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9" r:id="rId4"/>
    <p:sldId id="260" r:id="rId5"/>
    <p:sldId id="261" r:id="rId6"/>
    <p:sldId id="263" r:id="rId7"/>
    <p:sldId id="265" r:id="rId8"/>
    <p:sldId id="267" r:id="rId9"/>
    <p:sldId id="269" r:id="rId10"/>
    <p:sldId id="270" r:id="rId11"/>
    <p:sldId id="271" r:id="rId12"/>
    <p:sldId id="273" r:id="rId13"/>
    <p:sldId id="274" r:id="rId14"/>
    <p:sldId id="275" r:id="rId15"/>
    <p:sldId id="277" r:id="rId16"/>
    <p:sldId id="278"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尊敬的各位评委老师，下午好。我是微电子科学与工程专业的杨荣宝，我的毕业论文题目是《面向工业机器人的嵌入式系统可靠固件更新架构设计》。</a:t>
            </a:r>
            <a:r>
              <a:rPr lang="en-US" sz="1400" b="0" i="0" u="none" strike="noStrike" dirty="0" err="1">
                <a:solidFill>
                  <a:srgbClr val="000000"/>
                </a:solidFill>
              </a:rPr>
              <a:t>在接下来的时间里，我将向各位老师汇报我的主要研究工作和成果</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前，物联网和工业自动化正以前所未有的速度发展，嵌入式设备已成为工业现场不可或缺的一部分。随之而来的，是对固件进行远程、高效升级的迫切需求。传统的物理烧录方式已无法适应大规模部署的要求，因此，基于网络的在线升级技术，即OTA，已成为行业发展的必然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然而，传统的固件升级方案面临着三大核心痛点。首先是传输与存储瓶颈，全量升级在低速链路上耗时过长且风险高。其次是底层代码移植性差，基于汇编的启动文件使得跨平台开发变得困难。最后，裸机框架的并发处理能力弱，无法高效处理复杂的升级任务，容易导致系统阻塞。这些痛点正是本研究旨在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针对这些痛点，本设计的意义在于实现固件升级技术的“轻量化”与“高效化”。具体来说，我通过差分升级提升效率，通过精细化存储增强健壮性，通过纯C启动文件提高代码复用性，并通过引入RTOS提升资源调度能力。这些改进共同构成了一套高可靠、低开销的完整解决方案，具有显著的工程应用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Bootloader架构方面，趋势是从裸机转向引入RTOS以提升并发能力。在差分算法领域，轻量化方案如detools正成为研究热点，以适应MCU的资源限制。在底层启动机制上，用纯C语言替代汇编是提高可移植性的重要方向。综合来看，现有研究缺少将这些技术进行深度整合的方案。因此，本研究的切入点正是整合这些先进技术，解决传统方案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的总体目标非常明确：设计一款高可靠的、具备差分升级能力的Bootloader，以解决传统方案的三大痛点。为实现这一目标，我开展了五项核心研究工作，包括重构存储与内存管理、重写启动机制、移植RTOS、实现智能文件传输以及优化差分算法。这些工作将在后续章节详细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为了实现高可靠和低耦合，我设计了一个分层解耦的模块化架构。自下而上分为四层：最底层是硬件抽象与启动层，负责屏蔽硬件差异；第二层是存储与状态管理层，负责空间划分和状态传递；第三层是操作系统调度层，通过RTOS实现多任务并发；最上层是升级业务逻辑层，包含了文件传输和差分还原两大核心组件。这种架构使得系统各部分职责清晰，易于维护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第一个核心创新是精细化的存储管理。我将Flash划分为LOADER、USER、PATCH和OEM四个独立区域，严格遵循“隔离更新、留有退路”的高可靠原则。在RAM方面，我不仅利用了ITCM/</a:t>
            </a:r>
            <a:r>
              <a:rPr lang="en-US" sz="1400" b="0" i="0" u="none" strike="noStrike" dirty="0" err="1">
                <a:solidFill>
                  <a:srgbClr val="000000"/>
                </a:solidFill>
              </a:rPr>
              <a:t>DTCM等高速内存来提升性能，更创新性地开辟了No-Init</a:t>
            </a:r>
            <a:r>
              <a:rPr lang="en-US" sz="1400" b="0" i="0" u="none" strike="noStrike" dirty="0">
                <a:solidFill>
                  <a:srgbClr val="000000"/>
                </a:solidFill>
              </a:rPr>
              <a:t> </a:t>
            </a:r>
            <a:r>
              <a:rPr lang="en-US" sz="1400" b="0" i="0" u="none" strike="noStrike" dirty="0" err="1">
                <a:solidFill>
                  <a:srgbClr val="000000"/>
                </a:solidFill>
              </a:rPr>
              <a:t>RAM区域，实现了Bootloader与应用程序之间高效、无损的状态传递，这是对传统基于Flash标志位方案的重大改进</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第二个核心创新是底层启动机制的重构。我摒弃了传统的汇编启动文件，完全用C语言重写了启动流程，这极大地提升了代码的可移植性和可维护性。同时，我们将轻量级RTOS——RT-Thread Nano移植到Bootloader中，将复杂的升级任务解耦为多个独立线程，通过并发调度彻底解决了裸机架构下的阻塞问题，保证了文件传输的高可靠性。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第三个核心创新在于可靠传输与差分升级的实现。我移植了Ymodem协议保证文件传输的可靠性，并设计了智能解析机制，能自动识别全量包和差分包。</a:t>
            </a:r>
          </a:p>
          <a:p>
            <a:pPr indent="0" algn="l">
              <a:lnSpc>
                <a:spcPct val="100000"/>
              </a:lnSpc>
            </a:pPr>
            <a:r>
              <a:rPr lang="en-US" sz="1400" b="0" i="0" u="none" strike="noStrike" dirty="0">
                <a:solidFill>
                  <a:srgbClr val="000000"/>
                </a:solidFill>
              </a:rPr>
              <a:t>关键在于，我成功将detools差分算法移植到MCU端，并采用了流式处理策略，实现了“边读、边解压、边写”的流水线操作，这彻底解决了长期以来困扰单片机领域的差分升级内存溢出瓶颈。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我的测试基于STM32H743高性能单片机进行，使用GCC编译器进行开发。测试工具包括串口助手和</a:t>
            </a:r>
            <a:r>
              <a:rPr lang="en-US" altLang="zh-CN" sz="1400" b="0" i="0" u="none" strike="noStrike" dirty="0">
                <a:solidFill>
                  <a:srgbClr val="000000"/>
                </a:solidFill>
              </a:rPr>
              <a:t>DapLink</a:t>
            </a:r>
            <a:r>
              <a:rPr lang="en-US" sz="1400" b="0" i="0" u="none" strike="noStrike" dirty="0">
                <a:solidFill>
                  <a:srgbClr val="000000"/>
                </a:solidFill>
              </a:rPr>
              <a:t>等。右侧的图片展示了我真实的硬件测试环境。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性能测试是本次验证的重点。在升级一个约44KB的固件时，传统的全量升级耗时约5秒，而我的差分升级方案仅需约1秒，传输时间缩短了惊人的80%。</a:t>
            </a:r>
            <a:r>
              <a:rPr lang="en-US" sz="1400" b="0" i="0" u="none" strike="noStrike" dirty="0" err="1">
                <a:solidFill>
                  <a:srgbClr val="000000"/>
                </a:solidFill>
              </a:rPr>
              <a:t>这充分证明了差分升级在提升效率方面的巨大优势，尤其适用于低带宽的工业现场</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除了效率，我还评估了系统的资源开销。整个Bootloader（包含RTOS）仅占用约44KB的Flash和12KB的RAM，为用户程序预留了充足的空间。在差分还原过程中，CPU平均占用率达到10%，</a:t>
            </a:r>
            <a:r>
              <a:rPr lang="en-US" sz="1400" b="0" i="0" u="none" strike="noStrike" dirty="0" err="1">
                <a:solidFill>
                  <a:srgbClr val="000000"/>
                </a:solidFill>
              </a:rPr>
              <a:t>表明算法得到了充分利用，实现了高效的计算。这些数据说明我的设计在性能和资源占用之间取得了良好的平衡</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总结来说，本研究通过五大核心技术的整合，成功解决了传统固件升级的痛点，实现了高效、可靠、可移植的升级方案。展望未来，仍有许多工作可以深入，例如将通信接口扩展到无线，引入更完善的安全机制，开发配套的上位机工具，以及</a:t>
            </a:r>
            <a:r>
              <a:rPr lang="zh-CN" altLang="en-US" sz="1400" b="0" i="0" u="none" strike="noStrike" dirty="0">
                <a:solidFill>
                  <a:srgbClr val="000000"/>
                </a:solidFill>
              </a:rPr>
              <a:t>防掉电与双区回滚策略</a:t>
            </a:r>
            <a:r>
              <a:rPr lang="en-US" sz="1400" b="0" i="0" u="none" strike="noStrike" dirty="0" err="1">
                <a:solidFill>
                  <a:srgbClr val="000000"/>
                </a:solidFill>
              </a:rPr>
              <a:t>等，这些都将是下一步值得研究的方向</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最后，我要由衷地感谢我的指导老师刘春平教授，以及深圳大学提供的良好平台。我的汇报到此结束，感谢各位评委老师的聆听，恳请各位老师批评指正。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6.svg"/><Relationship Id="rId4" Type="http://schemas.openxmlformats.org/officeDocument/2006/relationships/image" Target="../media/image6.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jpeg"/><Relationship Id="rId7"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4.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13.svg"/><Relationship Id="rId4" Type="http://schemas.openxmlformats.org/officeDocument/2006/relationships/image" Target="../media/image32.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5.svg"/><Relationship Id="rId5" Type="http://schemas.openxmlformats.org/officeDocument/2006/relationships/image" Target="../media/image19.svg"/><Relationship Id="rId4" Type="http://schemas.openxmlformats.org/officeDocument/2006/relationships/image" Target="../media/image34.sv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面向工业机器人的嵌入式系统可靠固件更新架构设计</a:t>
            </a:r>
            <a:endParaRPr lang="en-US" sz="1100"/>
          </a:p>
        </p:txBody>
      </p:sp>
      <p:sp>
        <p:nvSpPr>
          <p:cNvPr id="4" name="AutoShape 4"/>
          <p:cNvSpPr/>
          <p:nvPr/>
        </p:nvSpPr>
        <p:spPr>
          <a:xfrm>
            <a:off x="0" y="254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spc="400">
                <a:solidFill>
                  <a:srgbClr val="10B981"/>
                </a:solidFill>
                <a:latin typeface="Noto Sans SC"/>
                <a:ea typeface="Noto Sans SC"/>
                <a:cs typeface="Noto Sans SC"/>
                <a:sym typeface="Noto Sans SC"/>
              </a:rPr>
              <a:t>毕业论文答辩</a:t>
            </a:r>
            <a:endParaRPr lang="en-US" sz="1100"/>
          </a:p>
        </p:txBody>
      </p:sp>
      <p:sp>
        <p:nvSpPr>
          <p:cNvPr id="5" name="AutoShape 5"/>
          <p:cNvSpPr/>
          <p:nvPr/>
        </p:nvSpPr>
        <p:spPr>
          <a:xfrm>
            <a:off x="5588000" y="33655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2794000" y="3810000"/>
            <a:ext cx="6604000" cy="1905000"/>
          </a:xfrm>
          <a:prstGeom prst="roundRect">
            <a:avLst>
              <a:gd name="adj" fmla="val 8000"/>
            </a:avLst>
          </a:prstGeom>
          <a:solidFill>
            <a:srgbClr val="FFFFFF">
              <a:alpha val="8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175000" y="4064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答辩人：</a:t>
            </a:r>
            <a:endParaRPr lang="en-US" sz="1100"/>
          </a:p>
        </p:txBody>
      </p:sp>
      <p:sp>
        <p:nvSpPr>
          <p:cNvPr id="8" name="AutoShape 8"/>
          <p:cNvSpPr/>
          <p:nvPr/>
        </p:nvSpPr>
        <p:spPr>
          <a:xfrm>
            <a:off x="4191000" y="4064000"/>
            <a:ext cx="127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a:ea typeface="Noto Sans SC"/>
                <a:cs typeface="Noto Sans SC"/>
                <a:sym typeface="Noto Sans SC"/>
              </a:rPr>
              <a:t>杨荣宝</a:t>
            </a:r>
            <a:endParaRPr lang="en-US" sz="1100"/>
          </a:p>
        </p:txBody>
      </p:sp>
      <p:sp>
        <p:nvSpPr>
          <p:cNvPr id="9" name="AutoShape 9"/>
          <p:cNvSpPr/>
          <p:nvPr/>
        </p:nvSpPr>
        <p:spPr>
          <a:xfrm>
            <a:off x="3175000" y="4572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学　号：</a:t>
            </a:r>
            <a:endParaRPr lang="en-US" sz="1100"/>
          </a:p>
        </p:txBody>
      </p:sp>
      <p:sp>
        <p:nvSpPr>
          <p:cNvPr id="10" name="AutoShape 10"/>
          <p:cNvSpPr/>
          <p:nvPr/>
        </p:nvSpPr>
        <p:spPr>
          <a:xfrm>
            <a:off x="4191000" y="4572000"/>
            <a:ext cx="127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a:ea typeface="Noto Sans SC"/>
                <a:cs typeface="Noto Sans SC"/>
                <a:sym typeface="Noto Sans SC"/>
              </a:rPr>
              <a:t>2022280136</a:t>
            </a:r>
            <a:endParaRPr lang="en-US" sz="1100"/>
          </a:p>
        </p:txBody>
      </p:sp>
      <p:sp>
        <p:nvSpPr>
          <p:cNvPr id="11" name="AutoShape 11"/>
          <p:cNvSpPr/>
          <p:nvPr/>
        </p:nvSpPr>
        <p:spPr>
          <a:xfrm>
            <a:off x="3175000" y="5080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专　业：</a:t>
            </a:r>
            <a:endParaRPr lang="en-US" sz="1100"/>
          </a:p>
        </p:txBody>
      </p:sp>
      <p:sp>
        <p:nvSpPr>
          <p:cNvPr id="12" name="AutoShape 12"/>
          <p:cNvSpPr/>
          <p:nvPr/>
        </p:nvSpPr>
        <p:spPr>
          <a:xfrm>
            <a:off x="4191000" y="5080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a:ea typeface="Noto Sans SC"/>
                <a:cs typeface="Noto Sans SC"/>
                <a:sym typeface="Noto Sans SC"/>
              </a:rPr>
              <a:t>微电子科学与工程</a:t>
            </a:r>
            <a:endParaRPr lang="en-US" sz="1100"/>
          </a:p>
        </p:txBody>
      </p:sp>
      <p:sp>
        <p:nvSpPr>
          <p:cNvPr id="13" name="AutoShape 13"/>
          <p:cNvSpPr/>
          <p:nvPr/>
        </p:nvSpPr>
        <p:spPr>
          <a:xfrm>
            <a:off x="5969000" y="40640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指导教师：</a:t>
            </a:r>
            <a:endParaRPr lang="en-US" sz="1100"/>
          </a:p>
        </p:txBody>
      </p:sp>
      <p:sp>
        <p:nvSpPr>
          <p:cNvPr id="14" name="AutoShape 14"/>
          <p:cNvSpPr/>
          <p:nvPr/>
        </p:nvSpPr>
        <p:spPr>
          <a:xfrm>
            <a:off x="7112000" y="4064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a:ea typeface="Noto Sans SC"/>
                <a:cs typeface="Noto Sans SC"/>
                <a:sym typeface="Noto Sans SC"/>
              </a:rPr>
              <a:t>刘春平 教授</a:t>
            </a:r>
            <a:endParaRPr lang="en-US" sz="1100"/>
          </a:p>
        </p:txBody>
      </p:sp>
      <p:sp>
        <p:nvSpPr>
          <p:cNvPr id="15" name="AutoShape 15"/>
          <p:cNvSpPr/>
          <p:nvPr/>
        </p:nvSpPr>
        <p:spPr>
          <a:xfrm>
            <a:off x="5969000" y="45720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答辩日期：</a:t>
            </a:r>
            <a:endParaRPr lang="en-US" sz="1100"/>
          </a:p>
        </p:txBody>
      </p:sp>
      <p:sp>
        <p:nvSpPr>
          <p:cNvPr id="16" name="AutoShape 16"/>
          <p:cNvSpPr/>
          <p:nvPr/>
        </p:nvSpPr>
        <p:spPr>
          <a:xfrm>
            <a:off x="7112000" y="4572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a:solidFill>
                  <a:srgbClr val="E5E7EB"/>
                </a:solidFill>
                <a:latin typeface="Noto Sans SC"/>
                <a:ea typeface="Noto Sans SC"/>
                <a:cs typeface="Noto Sans SC"/>
                <a:sym typeface="Noto Sans SC"/>
              </a:rPr>
              <a:t>2026年04月</a:t>
            </a:r>
            <a:r>
              <a:rPr lang="en-US" sz="1300" dirty="0">
                <a:solidFill>
                  <a:srgbClr val="E5E7EB"/>
                </a:solidFill>
                <a:latin typeface="Noto Sans SC"/>
                <a:ea typeface="Noto Sans SC"/>
                <a:cs typeface="Noto Sans SC"/>
                <a:sym typeface="Noto Sans SC"/>
              </a:rPr>
              <a:t>21</a:t>
            </a:r>
            <a:r>
              <a:rPr lang="zh-CN" altLang="en-US" sz="1300" dirty="0">
                <a:solidFill>
                  <a:srgbClr val="E5E7EB"/>
                </a:solidFill>
                <a:latin typeface="Noto Sans SC"/>
                <a:ea typeface="Noto Sans SC"/>
                <a:cs typeface="Noto Sans SC"/>
                <a:sym typeface="Noto Sans SC"/>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项目背景：物联网与工业自动化的发展需求</a:t>
            </a:r>
            <a:endParaRPr lang="en-US" sz="1100"/>
          </a:p>
        </p:txBody>
      </p:sp>
      <p:sp>
        <p:nvSpPr>
          <p:cNvPr id="4" name="AutoShape 4"/>
          <p:cNvSpPr/>
          <p:nvPr/>
        </p:nvSpPr>
        <p:spPr>
          <a:xfrm>
            <a:off x="762000" y="1524000"/>
            <a:ext cx="3302000" cy="4572000"/>
          </a:xfrm>
          <a:prstGeom prst="roundRect">
            <a:avLst>
              <a:gd name="adj" fmla="val 4615"/>
            </a:avLst>
          </a:prstGeom>
          <a:solidFill>
            <a:srgbClr val="FFFFFF">
              <a:alpha val="92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5000" y="1905000"/>
            <a:ext cx="1016000" cy="1016000"/>
          </a:xfrm>
          <a:prstGeom prst="rect">
            <a:avLst/>
          </a:prstGeom>
        </p:spPr>
      </p:pic>
      <p:sp>
        <p:nvSpPr>
          <p:cNvPr id="6" name="AutoShape 6"/>
          <p:cNvSpPr/>
          <p:nvPr/>
        </p:nvSpPr>
        <p:spPr>
          <a:xfrm>
            <a:off x="1016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时代背景</a:t>
            </a:r>
            <a:endParaRPr lang="en-US" sz="1100"/>
          </a:p>
        </p:txBody>
      </p:sp>
      <p:sp>
        <p:nvSpPr>
          <p:cNvPr id="7" name="AutoShape 7"/>
          <p:cNvSpPr/>
          <p:nvPr/>
        </p:nvSpPr>
        <p:spPr>
          <a:xfrm>
            <a:off x="1968500" y="3810000"/>
            <a:ext cx="889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4191000"/>
            <a:ext cx="2794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4B5563"/>
                </a:solidFill>
                <a:latin typeface="Noto Sans SC"/>
                <a:ea typeface="Noto Sans SC"/>
                <a:cs typeface="Noto Sans SC"/>
                <a:sym typeface="Noto Sans SC"/>
              </a:rPr>
              <a:t>随着物联网(IoT)、智能制造、机器人技术的迅猛发展，嵌入式设备在工业现场的应用日益广泛，设备数量呈爆发式增长态势。</a:t>
            </a:r>
            <a:endParaRPr lang="en-US" sz="1100"/>
          </a:p>
        </p:txBody>
      </p:sp>
      <p:sp>
        <p:nvSpPr>
          <p:cNvPr id="9" name="AutoShape 9"/>
          <p:cNvSpPr/>
          <p:nvPr/>
        </p:nvSpPr>
        <p:spPr>
          <a:xfrm>
            <a:off x="4445000" y="1524000"/>
            <a:ext cx="3302000" cy="4572000"/>
          </a:xfrm>
          <a:prstGeom prst="roundRect">
            <a:avLst>
              <a:gd name="adj" fmla="val 4615"/>
            </a:avLst>
          </a:prstGeom>
          <a:solidFill>
            <a:srgbClr val="FFFFFF">
              <a:alpha val="92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0" y="1905000"/>
            <a:ext cx="1016000" cy="1016000"/>
          </a:xfrm>
          <a:prstGeom prst="rect">
            <a:avLst/>
          </a:prstGeom>
        </p:spPr>
      </p:pic>
      <p:sp>
        <p:nvSpPr>
          <p:cNvPr id="11" name="AutoShape 11"/>
          <p:cNvSpPr/>
          <p:nvPr/>
        </p:nvSpPr>
        <p:spPr>
          <a:xfrm>
            <a:off x="4699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核心需求</a:t>
            </a:r>
            <a:endParaRPr lang="en-US" sz="1100"/>
          </a:p>
        </p:txBody>
      </p:sp>
      <p:sp>
        <p:nvSpPr>
          <p:cNvPr id="12" name="AutoShape 12"/>
          <p:cNvSpPr/>
          <p:nvPr/>
        </p:nvSpPr>
        <p:spPr>
          <a:xfrm>
            <a:off x="5651500" y="3810000"/>
            <a:ext cx="889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4191000"/>
            <a:ext cx="2794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4B5563"/>
                </a:solidFill>
                <a:latin typeface="Noto Sans SC"/>
                <a:ea typeface="Noto Sans SC"/>
                <a:cs typeface="Noto Sans SC"/>
                <a:sym typeface="Noto Sans SC"/>
              </a:rPr>
              <a:t>在产品全生命周期管理中，固件升级（Firmware Update）已成为修复系统漏洞、优化底层算法、快速迭代功能的关键核心能力。</a:t>
            </a:r>
            <a:endParaRPr lang="en-US" sz="1100"/>
          </a:p>
        </p:txBody>
      </p:sp>
      <p:sp>
        <p:nvSpPr>
          <p:cNvPr id="14" name="AutoShape 14"/>
          <p:cNvSpPr/>
          <p:nvPr/>
        </p:nvSpPr>
        <p:spPr>
          <a:xfrm>
            <a:off x="8128000" y="1524000"/>
            <a:ext cx="3302000" cy="4572000"/>
          </a:xfrm>
          <a:prstGeom prst="roundRect">
            <a:avLst>
              <a:gd name="adj" fmla="val 4615"/>
            </a:avLst>
          </a:prstGeom>
          <a:solidFill>
            <a:srgbClr val="FFFFFF">
              <a:alpha val="92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1000" y="1905000"/>
            <a:ext cx="1016000" cy="1016000"/>
          </a:xfrm>
          <a:prstGeom prst="rect">
            <a:avLst/>
          </a:prstGeom>
        </p:spPr>
      </p:pic>
      <p:sp>
        <p:nvSpPr>
          <p:cNvPr id="16" name="AutoShape 16"/>
          <p:cNvSpPr/>
          <p:nvPr/>
        </p:nvSpPr>
        <p:spPr>
          <a:xfrm>
            <a:off x="8382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技术演进</a:t>
            </a:r>
            <a:endParaRPr lang="en-US" sz="1100"/>
          </a:p>
        </p:txBody>
      </p:sp>
      <p:sp>
        <p:nvSpPr>
          <p:cNvPr id="17" name="AutoShape 17"/>
          <p:cNvSpPr/>
          <p:nvPr/>
        </p:nvSpPr>
        <p:spPr>
          <a:xfrm>
            <a:off x="9334500" y="3810000"/>
            <a:ext cx="889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4191000"/>
            <a:ext cx="2794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4B5563"/>
                </a:solidFill>
                <a:latin typeface="Noto Sans SC"/>
                <a:ea typeface="Noto Sans SC"/>
                <a:cs typeface="Noto Sans SC"/>
                <a:sym typeface="Noto Sans SC"/>
              </a:rPr>
              <a:t>传统的物理烧录方式（如J-Link）因成本高昂、效率低下，已无法满足大规模设备部署的需求。基于通信接口的在线升级（OTA）技术已逐渐成为行业标准方案。</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行业痛点：传统固件升级方案的挑战</a:t>
            </a:r>
            <a:endParaRPr lang="en-US" sz="1100"/>
          </a:p>
        </p:txBody>
      </p:sp>
      <p:sp>
        <p:nvSpPr>
          <p:cNvPr id="4" name="AutoShape 4"/>
          <p:cNvSpPr/>
          <p:nvPr/>
        </p:nvSpPr>
        <p:spPr>
          <a:xfrm>
            <a:off x="762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66800" y="1828800"/>
            <a:ext cx="812800" cy="8128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032000"/>
            <a:ext cx="406400" cy="406400"/>
          </a:xfrm>
          <a:prstGeom prst="rect">
            <a:avLst/>
          </a:prstGeom>
        </p:spPr>
      </p:pic>
      <p:sp>
        <p:nvSpPr>
          <p:cNvPr id="7" name="AutoShape 7"/>
          <p:cNvSpPr/>
          <p:nvPr/>
        </p:nvSpPr>
        <p:spPr>
          <a:xfrm>
            <a:off x="1066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传输与存储瓶颈</a:t>
            </a:r>
            <a:endParaRPr lang="en-US" sz="1100"/>
          </a:p>
        </p:txBody>
      </p:sp>
      <p:cxnSp>
        <p:nvCxnSpPr>
          <p:cNvPr id="8" name="Connector 8"/>
          <p:cNvCxnSpPr/>
          <p:nvPr/>
        </p:nvCxnSpPr>
        <p:spPr>
          <a:xfrm rot="-16215">
            <a:off x="1066815" y="3359150"/>
            <a:ext cx="26924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66800" y="355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核心问题</a:t>
            </a:r>
            <a:endParaRPr lang="en-US" sz="1100"/>
          </a:p>
        </p:txBody>
      </p:sp>
      <p:sp>
        <p:nvSpPr>
          <p:cNvPr id="10" name="AutoShape 10"/>
          <p:cNvSpPr/>
          <p:nvPr/>
        </p:nvSpPr>
        <p:spPr>
          <a:xfrm>
            <a:off x="1066800" y="3937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固件体积日益膨胀，在UART等低带宽接口下，全量传输耗时过长，效率低下。</a:t>
            </a:r>
            <a:endParaRPr lang="en-US" sz="1100"/>
          </a:p>
        </p:txBody>
      </p:sp>
      <p:sp>
        <p:nvSpPr>
          <p:cNvPr id="11" name="AutoShape 11"/>
          <p:cNvSpPr/>
          <p:nvPr/>
        </p:nvSpPr>
        <p:spPr>
          <a:xfrm>
            <a:off x="1066800" y="482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F4444"/>
                </a:solidFill>
                <a:latin typeface="Noto Sans SC"/>
                <a:ea typeface="Noto Sans SC"/>
                <a:cs typeface="Noto Sans SC"/>
                <a:sym typeface="Noto Sans SC"/>
              </a:rPr>
              <a:t>潜在风险</a:t>
            </a:r>
            <a:endParaRPr lang="en-US" sz="1100"/>
          </a:p>
        </p:txBody>
      </p:sp>
      <p:sp>
        <p:nvSpPr>
          <p:cNvPr id="12" name="AutoShape 12"/>
          <p:cNvSpPr/>
          <p:nvPr/>
        </p:nvSpPr>
        <p:spPr>
          <a:xfrm>
            <a:off x="1066800" y="5207000"/>
            <a:ext cx="2692400"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大幅增加升级中断风险，频繁的全量写入加剧Flash存储器物理损耗。</a:t>
            </a:r>
            <a:endParaRPr lang="en-US" sz="1100"/>
          </a:p>
        </p:txBody>
      </p:sp>
      <p:sp>
        <p:nvSpPr>
          <p:cNvPr id="13" name="AutoShape 13"/>
          <p:cNvSpPr/>
          <p:nvPr/>
        </p:nvSpPr>
        <p:spPr>
          <a:xfrm>
            <a:off x="4445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4749800" y="1828800"/>
            <a:ext cx="812800" cy="8128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3000" y="2032000"/>
            <a:ext cx="406400" cy="406400"/>
          </a:xfrm>
          <a:prstGeom prst="rect">
            <a:avLst/>
          </a:prstGeom>
        </p:spPr>
      </p:pic>
      <p:sp>
        <p:nvSpPr>
          <p:cNvPr id="16" name="AutoShape 16"/>
          <p:cNvSpPr/>
          <p:nvPr/>
        </p:nvSpPr>
        <p:spPr>
          <a:xfrm>
            <a:off x="4749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底层代码移植性差</a:t>
            </a:r>
            <a:endParaRPr lang="en-US" sz="1100"/>
          </a:p>
        </p:txBody>
      </p:sp>
      <p:cxnSp>
        <p:nvCxnSpPr>
          <p:cNvPr id="17" name="Connector 17"/>
          <p:cNvCxnSpPr/>
          <p:nvPr/>
        </p:nvCxnSpPr>
        <p:spPr>
          <a:xfrm rot="-16215">
            <a:off x="4749815" y="3359150"/>
            <a:ext cx="26924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8" name="AutoShape 18"/>
          <p:cNvSpPr/>
          <p:nvPr/>
        </p:nvSpPr>
        <p:spPr>
          <a:xfrm>
            <a:off x="4749800" y="355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核心问题</a:t>
            </a:r>
            <a:endParaRPr lang="en-US" sz="1100"/>
          </a:p>
        </p:txBody>
      </p:sp>
      <p:sp>
        <p:nvSpPr>
          <p:cNvPr id="19" name="AutoShape 19"/>
          <p:cNvSpPr/>
          <p:nvPr/>
        </p:nvSpPr>
        <p:spPr>
          <a:xfrm>
            <a:off x="4749800" y="3937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主流启动文件多为汇编语言编写，与硬件平台强耦合，缺乏通用抽象层。</a:t>
            </a:r>
            <a:endParaRPr lang="en-US" sz="1100"/>
          </a:p>
        </p:txBody>
      </p:sp>
      <p:sp>
        <p:nvSpPr>
          <p:cNvPr id="20" name="AutoShape 20"/>
          <p:cNvSpPr/>
          <p:nvPr/>
        </p:nvSpPr>
        <p:spPr>
          <a:xfrm>
            <a:off x="4749800" y="482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59E0B"/>
                </a:solidFill>
                <a:latin typeface="Noto Sans SC"/>
                <a:ea typeface="Noto Sans SC"/>
                <a:cs typeface="Noto Sans SC"/>
                <a:sym typeface="Noto Sans SC"/>
              </a:rPr>
              <a:t>技术壁垒</a:t>
            </a:r>
            <a:endParaRPr lang="en-US" sz="1100"/>
          </a:p>
        </p:txBody>
      </p:sp>
      <p:sp>
        <p:nvSpPr>
          <p:cNvPr id="21" name="AutoShape 21"/>
          <p:cNvSpPr/>
          <p:nvPr/>
        </p:nvSpPr>
        <p:spPr>
          <a:xfrm>
            <a:off x="4749800" y="5207000"/>
            <a:ext cx="2692400"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跨平台移植或复用底层代码时，繁杂的汇编指令成为难以逾越的技术障碍。</a:t>
            </a:r>
            <a:endParaRPr lang="en-US" sz="1100"/>
          </a:p>
        </p:txBody>
      </p:sp>
      <p:sp>
        <p:nvSpPr>
          <p:cNvPr id="22" name="AutoShape 22"/>
          <p:cNvSpPr/>
          <p:nvPr/>
        </p:nvSpPr>
        <p:spPr>
          <a:xfrm>
            <a:off x="8128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8432800" y="1828800"/>
            <a:ext cx="812800" cy="8128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6000" y="2032000"/>
            <a:ext cx="406400" cy="406400"/>
          </a:xfrm>
          <a:prstGeom prst="rect">
            <a:avLst/>
          </a:prstGeom>
        </p:spPr>
      </p:pic>
      <p:sp>
        <p:nvSpPr>
          <p:cNvPr id="25" name="AutoShape 25"/>
          <p:cNvSpPr/>
          <p:nvPr/>
        </p:nvSpPr>
        <p:spPr>
          <a:xfrm>
            <a:off x="8432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裸机框架并发能力弱</a:t>
            </a:r>
            <a:endParaRPr lang="en-US" sz="1100"/>
          </a:p>
        </p:txBody>
      </p:sp>
      <p:cxnSp>
        <p:nvCxnSpPr>
          <p:cNvPr id="26" name="Connector 26"/>
          <p:cNvCxnSpPr/>
          <p:nvPr/>
        </p:nvCxnSpPr>
        <p:spPr>
          <a:xfrm rot="-16215">
            <a:off x="8432815" y="3359150"/>
            <a:ext cx="26924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7" name="AutoShape 27"/>
          <p:cNvSpPr/>
          <p:nvPr/>
        </p:nvSpPr>
        <p:spPr>
          <a:xfrm>
            <a:off x="8432800" y="355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核心问题</a:t>
            </a:r>
            <a:endParaRPr lang="en-US" sz="1100"/>
          </a:p>
        </p:txBody>
      </p:sp>
      <p:sp>
        <p:nvSpPr>
          <p:cNvPr id="28" name="AutoShape 28"/>
          <p:cNvSpPr/>
          <p:nvPr/>
        </p:nvSpPr>
        <p:spPr>
          <a:xfrm>
            <a:off x="8432800" y="3937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传统Bootloader多采用裸机轮询架构，在处理大文件接收等耗时任务时极易阻塞。</a:t>
            </a:r>
            <a:endParaRPr lang="en-US" sz="1100"/>
          </a:p>
        </p:txBody>
      </p:sp>
      <p:sp>
        <p:nvSpPr>
          <p:cNvPr id="29" name="AutoShape 29"/>
          <p:cNvSpPr/>
          <p:nvPr/>
        </p:nvSpPr>
        <p:spPr>
          <a:xfrm>
            <a:off x="8432800" y="4826000"/>
            <a:ext cx="26924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82F6"/>
                </a:solidFill>
                <a:latin typeface="Noto Sans SC"/>
                <a:ea typeface="Noto Sans SC"/>
                <a:cs typeface="Noto Sans SC"/>
                <a:sym typeface="Noto Sans SC"/>
              </a:rPr>
              <a:t>关键影响</a:t>
            </a:r>
            <a:endParaRPr lang="en-US" sz="1100"/>
          </a:p>
        </p:txBody>
      </p:sp>
      <p:sp>
        <p:nvSpPr>
          <p:cNvPr id="30" name="AutoShape 30"/>
          <p:cNvSpPr/>
          <p:nvPr/>
        </p:nvSpPr>
        <p:spPr>
          <a:xfrm>
            <a:off x="8432800" y="5207000"/>
            <a:ext cx="2692400"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严重限制了文件传输的稳定性，且导致系统对异常指令的实时响应能力不足。</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研究意义：本设计的技术与经济价值</a:t>
            </a:r>
            <a:endParaRPr lang="en-US" sz="1100"/>
          </a:p>
        </p:txBody>
      </p:sp>
      <p:sp>
        <p:nvSpPr>
          <p:cNvPr id="4" name="AutoShape 4"/>
          <p:cNvSpPr/>
          <p:nvPr/>
        </p:nvSpPr>
        <p:spPr>
          <a:xfrm>
            <a:off x="762000" y="1397000"/>
            <a:ext cx="5207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68500"/>
            <a:ext cx="1016000" cy="1016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222500"/>
            <a:ext cx="508000" cy="508000"/>
          </a:xfrm>
          <a:prstGeom prst="rect">
            <a:avLst/>
          </a:prstGeom>
        </p:spPr>
      </p:pic>
      <p:sp>
        <p:nvSpPr>
          <p:cNvPr id="7" name="AutoShape 7"/>
          <p:cNvSpPr/>
          <p:nvPr/>
        </p:nvSpPr>
        <p:spPr>
          <a:xfrm>
            <a:off x="2286000" y="1714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提升升级效率</a:t>
            </a:r>
            <a:endParaRPr lang="en-US" sz="1100"/>
          </a:p>
        </p:txBody>
      </p:sp>
      <p:sp>
        <p:nvSpPr>
          <p:cNvPr id="8" name="AutoShape 8"/>
          <p:cNvSpPr/>
          <p:nvPr/>
        </p:nvSpPr>
        <p:spPr>
          <a:xfrm>
            <a:off x="2286000" y="2222500"/>
            <a:ext cx="3429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通过差分升级技术，将数据传输量降低70%-90%，大幅缩短固件升级时间，显著降低升级失败的概率。</a:t>
            </a:r>
            <a:endParaRPr lang="en-US" sz="1100"/>
          </a:p>
        </p:txBody>
      </p:sp>
      <p:sp>
        <p:nvSpPr>
          <p:cNvPr id="9" name="AutoShape 9"/>
          <p:cNvSpPr/>
          <p:nvPr/>
        </p:nvSpPr>
        <p:spPr>
          <a:xfrm>
            <a:off x="6223000" y="1397000"/>
            <a:ext cx="5207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477000" y="1968500"/>
            <a:ext cx="1016000" cy="1016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2222500"/>
            <a:ext cx="508000" cy="508000"/>
          </a:xfrm>
          <a:prstGeom prst="rect">
            <a:avLst/>
          </a:prstGeom>
        </p:spPr>
      </p:pic>
      <p:sp>
        <p:nvSpPr>
          <p:cNvPr id="12" name="AutoShape 12"/>
          <p:cNvSpPr/>
          <p:nvPr/>
        </p:nvSpPr>
        <p:spPr>
          <a:xfrm>
            <a:off x="7747000" y="1714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增强系统健壮性</a:t>
            </a:r>
            <a:endParaRPr lang="en-US" sz="1100"/>
          </a:p>
        </p:txBody>
      </p:sp>
      <p:sp>
        <p:nvSpPr>
          <p:cNvPr id="13" name="AutoShape 13"/>
          <p:cNvSpPr/>
          <p:nvPr/>
        </p:nvSpPr>
        <p:spPr>
          <a:xfrm>
            <a:off x="7747000" y="2222500"/>
            <a:ext cx="3429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引入精细化存储模型管理分区数据，确保升级过程数据绝对安全，实现异常情况下的“一键恢复”能力。</a:t>
            </a:r>
            <a:endParaRPr lang="en-US" sz="1100"/>
          </a:p>
        </p:txBody>
      </p:sp>
      <p:sp>
        <p:nvSpPr>
          <p:cNvPr id="14" name="AutoShape 14"/>
          <p:cNvSpPr/>
          <p:nvPr/>
        </p:nvSpPr>
        <p:spPr>
          <a:xfrm>
            <a:off x="762000" y="3810000"/>
            <a:ext cx="5207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16000" y="4381500"/>
            <a:ext cx="1016000" cy="1016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635500"/>
            <a:ext cx="508000" cy="508000"/>
          </a:xfrm>
          <a:prstGeom prst="rect">
            <a:avLst/>
          </a:prstGeom>
        </p:spPr>
      </p:pic>
      <p:sp>
        <p:nvSpPr>
          <p:cNvPr id="17" name="AutoShape 17"/>
          <p:cNvSpPr/>
          <p:nvPr/>
        </p:nvSpPr>
        <p:spPr>
          <a:xfrm>
            <a:off x="2286000" y="4127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提高代码复用性</a:t>
            </a:r>
            <a:endParaRPr lang="en-US" sz="1100"/>
          </a:p>
        </p:txBody>
      </p:sp>
      <p:sp>
        <p:nvSpPr>
          <p:cNvPr id="18" name="AutoShape 18"/>
          <p:cNvSpPr/>
          <p:nvPr/>
        </p:nvSpPr>
        <p:spPr>
          <a:xfrm>
            <a:off x="2286000" y="4635500"/>
            <a:ext cx="3429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通过纯C语言重写底层启动文件，剥离硬件相关耦合代码，大幅提升Bootloader的跨平台可移植性，降低维护成本。</a:t>
            </a:r>
            <a:endParaRPr lang="en-US" sz="1100"/>
          </a:p>
        </p:txBody>
      </p:sp>
      <p:sp>
        <p:nvSpPr>
          <p:cNvPr id="19" name="AutoShape 19"/>
          <p:cNvSpPr/>
          <p:nvPr/>
        </p:nvSpPr>
        <p:spPr>
          <a:xfrm>
            <a:off x="6223000" y="3810000"/>
            <a:ext cx="5207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477000" y="4381500"/>
            <a:ext cx="1016000" cy="1016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0" y="4635500"/>
            <a:ext cx="508000" cy="508000"/>
          </a:xfrm>
          <a:prstGeom prst="rect">
            <a:avLst/>
          </a:prstGeom>
        </p:spPr>
      </p:pic>
      <p:sp>
        <p:nvSpPr>
          <p:cNvPr id="22" name="AutoShape 22"/>
          <p:cNvSpPr/>
          <p:nvPr/>
        </p:nvSpPr>
        <p:spPr>
          <a:xfrm>
            <a:off x="7747000" y="4127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提升资源调度能力</a:t>
            </a:r>
            <a:endParaRPr lang="en-US" sz="1100"/>
          </a:p>
        </p:txBody>
      </p:sp>
      <p:sp>
        <p:nvSpPr>
          <p:cNvPr id="23" name="AutoShape 23"/>
          <p:cNvSpPr/>
          <p:nvPr/>
        </p:nvSpPr>
        <p:spPr>
          <a:xfrm>
            <a:off x="7747000" y="4635500"/>
            <a:ext cx="3429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引入RTOS实时操作系统，实现多任务并发调度，彻底解决裸机架构的任务阻塞问题，保证数据传输的高可靠性。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国内外研究现状分析</a:t>
            </a:r>
            <a:endParaRPr lang="en-US" sz="1100"/>
          </a:p>
        </p:txBody>
      </p:sp>
      <p:sp>
        <p:nvSpPr>
          <p:cNvPr id="4" name="AutoShape 4"/>
          <p:cNvSpPr/>
          <p:nvPr/>
        </p:nvSpPr>
        <p:spPr>
          <a:xfrm>
            <a:off x="762000" y="1397000"/>
            <a:ext cx="5207000" cy="2286000"/>
          </a:xfrm>
          <a:prstGeom prst="roundRect">
            <a:avLst>
              <a:gd name="adj" fmla="val 6666"/>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51000"/>
            <a:ext cx="762000" cy="7620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1841500"/>
            <a:ext cx="381000" cy="381000"/>
          </a:xfrm>
          <a:prstGeom prst="rect">
            <a:avLst/>
          </a:prstGeom>
        </p:spPr>
      </p:pic>
      <p:sp>
        <p:nvSpPr>
          <p:cNvPr id="7" name="AutoShape 7"/>
          <p:cNvSpPr/>
          <p:nvPr/>
        </p:nvSpPr>
        <p:spPr>
          <a:xfrm>
            <a:off x="2032000" y="165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Bootloader架构与RTOS应用</a:t>
            </a:r>
            <a:endParaRPr lang="en-US" sz="1100"/>
          </a:p>
        </p:txBody>
      </p:sp>
      <p:sp>
        <p:nvSpPr>
          <p:cNvPr id="8" name="AutoShape 8"/>
          <p:cNvSpPr/>
          <p:nvPr/>
        </p:nvSpPr>
        <p:spPr>
          <a:xfrm>
            <a:off x="2032000" y="22225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1" i="0" u="none" strike="noStrike">
                <a:solidFill>
                  <a:srgbClr val="4B5563"/>
                </a:solidFill>
                <a:latin typeface="Noto Sans SC"/>
                <a:ea typeface="Noto Sans SC"/>
                <a:cs typeface="Noto Sans SC"/>
                <a:sym typeface="Noto Sans SC"/>
              </a:rPr>
              <a:t>早期：</a:t>
            </a:r>
            <a:r>
              <a:rPr lang="en-US" sz="1200" b="0" i="0" u="none" strike="noStrike">
                <a:solidFill>
                  <a:srgbClr val="4B5563"/>
                </a:solidFill>
                <a:latin typeface="Noto Sans SC"/>
                <a:ea typeface="Noto Sans SC"/>
                <a:cs typeface="Noto Sans SC"/>
                <a:sym typeface="Noto Sans SC"/>
              </a:rPr>
              <a:t>裸机前后台架构，任务执行串行化，极易造成系统阻塞。</a:t>
            </a:r>
            <a:endParaRPr lang="en-US" sz="1100"/>
          </a:p>
          <a:p>
            <a:pPr indent="0" algn="l">
              <a:lnSpc>
                <a:spcPct val="116666"/>
              </a:lnSpc>
            </a:pPr>
            <a:r>
              <a:rPr lang="en-US" sz="1200" b="1" i="0" u="none" strike="noStrike">
                <a:solidFill>
                  <a:srgbClr val="4B5563"/>
                </a:solidFill>
                <a:latin typeface="Noto Sans SC"/>
                <a:ea typeface="Noto Sans SC"/>
                <a:cs typeface="Noto Sans SC"/>
                <a:sym typeface="Noto Sans SC"/>
              </a:rPr>
              <a:t>当前趋势：</a:t>
            </a:r>
            <a:r>
              <a:rPr lang="en-US" sz="1200" b="0" i="0" u="none" strike="noStrike">
                <a:solidFill>
                  <a:srgbClr val="4B5563"/>
                </a:solidFill>
                <a:latin typeface="Noto Sans SC"/>
                <a:ea typeface="Noto Sans SC"/>
                <a:cs typeface="Noto Sans SC"/>
                <a:sym typeface="Noto Sans SC"/>
              </a:rPr>
              <a:t>引入轻量级 RTOS，实现任务解耦，显著提升系统的</a:t>
            </a:r>
            <a:r>
              <a:rPr lang="en-US" sz="1200" b="1" i="0" u="none" strike="noStrike">
                <a:solidFill>
                  <a:srgbClr val="10B981"/>
                </a:solidFill>
                <a:latin typeface="Noto Sans SC"/>
                <a:ea typeface="Noto Sans SC"/>
                <a:cs typeface="Noto Sans SC"/>
                <a:sym typeface="Noto Sans SC"/>
              </a:rPr>
              <a:t>稳定性与实时性</a:t>
            </a:r>
            <a:r>
              <a:rPr lang="en-US" sz="1200" b="0" i="0" u="none" strike="noStrike">
                <a:solidFill>
                  <a:srgbClr val="4B5563"/>
                </a:solidFill>
                <a:latin typeface="Noto Sans SC"/>
                <a:ea typeface="Noto Sans SC"/>
                <a:cs typeface="Noto Sans SC"/>
                <a:sym typeface="Noto Sans SC"/>
              </a:rPr>
              <a:t>。</a:t>
            </a:r>
          </a:p>
        </p:txBody>
      </p:sp>
      <p:sp>
        <p:nvSpPr>
          <p:cNvPr id="9" name="AutoShape 9"/>
          <p:cNvSpPr/>
          <p:nvPr/>
        </p:nvSpPr>
        <p:spPr>
          <a:xfrm>
            <a:off x="6223000" y="1397000"/>
            <a:ext cx="5207000" cy="2286000"/>
          </a:xfrm>
          <a:prstGeom prst="roundRect">
            <a:avLst>
              <a:gd name="adj" fmla="val 6666"/>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477000" y="1651000"/>
            <a:ext cx="762000" cy="7620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1841500"/>
            <a:ext cx="381000" cy="381000"/>
          </a:xfrm>
          <a:prstGeom prst="rect">
            <a:avLst/>
          </a:prstGeom>
        </p:spPr>
      </p:pic>
      <p:sp>
        <p:nvSpPr>
          <p:cNvPr id="12" name="AutoShape 12"/>
          <p:cNvSpPr/>
          <p:nvPr/>
        </p:nvSpPr>
        <p:spPr>
          <a:xfrm>
            <a:off x="7493000" y="165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差分升级算法演进</a:t>
            </a:r>
            <a:endParaRPr lang="en-US" sz="1100"/>
          </a:p>
        </p:txBody>
      </p:sp>
      <p:sp>
        <p:nvSpPr>
          <p:cNvPr id="13" name="AutoShape 13"/>
          <p:cNvSpPr/>
          <p:nvPr/>
        </p:nvSpPr>
        <p:spPr>
          <a:xfrm>
            <a:off x="7493000" y="22225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1" i="0" u="none" strike="noStrike">
                <a:solidFill>
                  <a:srgbClr val="4B5563"/>
                </a:solidFill>
                <a:latin typeface="Noto Sans SC"/>
                <a:ea typeface="Noto Sans SC"/>
                <a:cs typeface="Noto Sans SC"/>
                <a:sym typeface="Noto Sans SC"/>
              </a:rPr>
              <a:t>传统方案：</a:t>
            </a:r>
            <a:r>
              <a:rPr lang="en-US" sz="1200" b="0" i="0" u="none" strike="noStrike">
                <a:solidFill>
                  <a:srgbClr val="4B5563"/>
                </a:solidFill>
                <a:latin typeface="Noto Sans SC"/>
                <a:ea typeface="Noto Sans SC"/>
                <a:cs typeface="Noto Sans SC"/>
                <a:sym typeface="Noto Sans SC"/>
              </a:rPr>
              <a:t>基于 bsdiff 等算法，内存开销巨大，难以适配资源受限的 MCU。</a:t>
            </a:r>
            <a:endParaRPr lang="en-US" sz="1100"/>
          </a:p>
          <a:p>
            <a:pPr indent="0" algn="l">
              <a:lnSpc>
                <a:spcPct val="116666"/>
              </a:lnSpc>
            </a:pPr>
            <a:r>
              <a:rPr lang="en-US" sz="1200" b="1" i="0" u="none" strike="noStrike">
                <a:solidFill>
                  <a:srgbClr val="4B5563"/>
                </a:solidFill>
                <a:latin typeface="Noto Sans SC"/>
                <a:ea typeface="Noto Sans SC"/>
                <a:cs typeface="Noto Sans SC"/>
                <a:sym typeface="Noto Sans SC"/>
              </a:rPr>
              <a:t>轻量化探索：</a:t>
            </a:r>
            <a:r>
              <a:rPr lang="en-US" sz="1200" b="0" i="0" u="none" strike="noStrike">
                <a:solidFill>
                  <a:srgbClr val="4B5563"/>
                </a:solidFill>
                <a:latin typeface="Noto Sans SC"/>
                <a:ea typeface="Noto Sans SC"/>
                <a:cs typeface="Noto Sans SC"/>
                <a:sym typeface="Noto Sans SC"/>
              </a:rPr>
              <a:t>采用</a:t>
            </a:r>
            <a:r>
              <a:rPr lang="en-US" sz="1200" b="1" i="0" u="none" strike="noStrike">
                <a:solidFill>
                  <a:srgbClr val="10B981"/>
                </a:solidFill>
                <a:latin typeface="Noto Sans SC"/>
                <a:ea typeface="Noto Sans SC"/>
                <a:cs typeface="Noto Sans SC"/>
                <a:sym typeface="Noto Sans SC"/>
              </a:rPr>
              <a:t>detools</a:t>
            </a:r>
            <a:r>
              <a:rPr lang="en-US" sz="1200" b="0" i="0" u="none" strike="noStrike">
                <a:solidFill>
                  <a:srgbClr val="4B5563"/>
                </a:solidFill>
                <a:latin typeface="Noto Sans SC"/>
                <a:ea typeface="Noto Sans SC"/>
                <a:cs typeface="Noto Sans SC"/>
                <a:sym typeface="Noto Sans SC"/>
              </a:rPr>
              <a:t>等方案，实现极低内存占用，并支持流式差分处理。</a:t>
            </a:r>
          </a:p>
        </p:txBody>
      </p:sp>
      <p:sp>
        <p:nvSpPr>
          <p:cNvPr id="14" name="AutoShape 14"/>
          <p:cNvSpPr/>
          <p:nvPr/>
        </p:nvSpPr>
        <p:spPr>
          <a:xfrm>
            <a:off x="762000" y="3937000"/>
            <a:ext cx="5207000" cy="2286000"/>
          </a:xfrm>
          <a:prstGeom prst="roundRect">
            <a:avLst>
              <a:gd name="adj" fmla="val 6666"/>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16000" y="4191000"/>
            <a:ext cx="762000" cy="7620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381500"/>
            <a:ext cx="381000" cy="381000"/>
          </a:xfrm>
          <a:prstGeom prst="rect">
            <a:avLst/>
          </a:prstGeom>
        </p:spPr>
      </p:pic>
      <p:sp>
        <p:nvSpPr>
          <p:cNvPr id="17" name="AutoShape 17"/>
          <p:cNvSpPr/>
          <p:nvPr/>
        </p:nvSpPr>
        <p:spPr>
          <a:xfrm>
            <a:off x="2032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底层启动机制优化</a:t>
            </a:r>
            <a:endParaRPr lang="en-US" sz="1100"/>
          </a:p>
        </p:txBody>
      </p:sp>
      <p:sp>
        <p:nvSpPr>
          <p:cNvPr id="18" name="AutoShape 18"/>
          <p:cNvSpPr/>
          <p:nvPr/>
        </p:nvSpPr>
        <p:spPr>
          <a:xfrm>
            <a:off x="2032000" y="47625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1" i="0" u="none" strike="noStrike">
                <a:solidFill>
                  <a:srgbClr val="4B5563"/>
                </a:solidFill>
                <a:latin typeface="Noto Sans SC"/>
                <a:ea typeface="Noto Sans SC"/>
                <a:cs typeface="Noto Sans SC"/>
                <a:sym typeface="Noto Sans SC"/>
              </a:rPr>
              <a:t>传统模式：</a:t>
            </a:r>
            <a:r>
              <a:rPr lang="en-US" sz="1200" b="0" i="0" u="none" strike="noStrike">
                <a:solidFill>
                  <a:srgbClr val="4B5563"/>
                </a:solidFill>
                <a:latin typeface="Noto Sans SC"/>
                <a:ea typeface="Noto Sans SC"/>
                <a:cs typeface="Noto Sans SC"/>
                <a:sym typeface="Noto Sans SC"/>
              </a:rPr>
              <a:t>高度依赖汇编语言编写启动代码，移植难度大，维护成本高。</a:t>
            </a:r>
            <a:endParaRPr lang="en-US" sz="1100"/>
          </a:p>
          <a:p>
            <a:pPr indent="0" algn="l">
              <a:lnSpc>
                <a:spcPct val="116666"/>
              </a:lnSpc>
            </a:pPr>
            <a:r>
              <a:rPr lang="en-US" sz="1200" b="1" i="0" u="none" strike="noStrike">
                <a:solidFill>
                  <a:srgbClr val="4B5563"/>
                </a:solidFill>
                <a:latin typeface="Noto Sans SC"/>
                <a:ea typeface="Noto Sans SC"/>
                <a:cs typeface="Noto Sans SC"/>
                <a:sym typeface="Noto Sans SC"/>
              </a:rPr>
              <a:t>优化方向：</a:t>
            </a:r>
            <a:r>
              <a:rPr lang="en-US" sz="1200" b="0" i="0" u="none" strike="noStrike">
                <a:solidFill>
                  <a:srgbClr val="4B5563"/>
                </a:solidFill>
                <a:latin typeface="Noto Sans SC"/>
                <a:ea typeface="Noto Sans SC"/>
                <a:cs typeface="Noto Sans SC"/>
                <a:sym typeface="Noto Sans SC"/>
              </a:rPr>
              <a:t>探索</a:t>
            </a:r>
            <a:r>
              <a:rPr lang="en-US" sz="1200" b="1" i="0" u="none" strike="noStrike">
                <a:solidFill>
                  <a:srgbClr val="10B981"/>
                </a:solidFill>
                <a:latin typeface="Noto Sans SC"/>
                <a:ea typeface="Noto Sans SC"/>
                <a:cs typeface="Noto Sans SC"/>
                <a:sym typeface="Noto Sans SC"/>
              </a:rPr>
              <a:t>纯C语言启动</a:t>
            </a:r>
            <a:r>
              <a:rPr lang="en-US" sz="1200" b="0" i="0" u="none" strike="noStrike">
                <a:solidFill>
                  <a:srgbClr val="4B5563"/>
                </a:solidFill>
                <a:latin typeface="Noto Sans SC"/>
                <a:ea typeface="Noto Sans SC"/>
                <a:cs typeface="Noto Sans SC"/>
                <a:sym typeface="Noto Sans SC"/>
              </a:rPr>
              <a:t>流程，提高代码的可读性与跨平台可维护性。</a:t>
            </a:r>
          </a:p>
        </p:txBody>
      </p:sp>
      <p:sp>
        <p:nvSpPr>
          <p:cNvPr id="19" name="AutoShape 19"/>
          <p:cNvSpPr/>
          <p:nvPr/>
        </p:nvSpPr>
        <p:spPr>
          <a:xfrm>
            <a:off x="6223000" y="3937000"/>
            <a:ext cx="5207000" cy="2286000"/>
          </a:xfrm>
          <a:prstGeom prst="roundRect">
            <a:avLst>
              <a:gd name="adj" fmla="val 6666"/>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477000" y="4191000"/>
            <a:ext cx="762000" cy="7620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4381500"/>
            <a:ext cx="381000" cy="381000"/>
          </a:xfrm>
          <a:prstGeom prst="rect">
            <a:avLst/>
          </a:prstGeom>
        </p:spPr>
      </p:pic>
      <p:sp>
        <p:nvSpPr>
          <p:cNvPr id="22" name="AutoShape 22"/>
          <p:cNvSpPr/>
          <p:nvPr/>
        </p:nvSpPr>
        <p:spPr>
          <a:xfrm>
            <a:off x="7493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本研究的核心切入点</a:t>
            </a:r>
            <a:endParaRPr lang="en-US" sz="1100"/>
          </a:p>
        </p:txBody>
      </p:sp>
      <p:sp>
        <p:nvSpPr>
          <p:cNvPr id="23" name="AutoShape 23"/>
          <p:cNvSpPr/>
          <p:nvPr/>
        </p:nvSpPr>
        <p:spPr>
          <a:xfrm>
            <a:off x="7493000" y="47625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1" i="0" u="none" strike="noStrike">
                <a:solidFill>
                  <a:srgbClr val="4B5563"/>
                </a:solidFill>
                <a:latin typeface="Noto Sans SC"/>
                <a:ea typeface="Noto Sans SC"/>
                <a:cs typeface="Noto Sans SC"/>
                <a:sym typeface="Noto Sans SC"/>
              </a:rPr>
              <a:t>痛点分析：</a:t>
            </a:r>
            <a:r>
              <a:rPr lang="en-US" sz="1200" b="0" i="0" u="none" strike="noStrike">
                <a:solidFill>
                  <a:srgbClr val="4B5563"/>
                </a:solidFill>
                <a:latin typeface="Noto Sans SC"/>
                <a:ea typeface="Noto Sans SC"/>
                <a:cs typeface="Noto Sans SC"/>
                <a:sym typeface="Noto Sans SC"/>
              </a:rPr>
              <a:t>现有研究多为单点突破，缺乏对各环节的深度整合与极致优化。</a:t>
            </a:r>
            <a:endParaRPr lang="en-US" sz="1100"/>
          </a:p>
          <a:p>
            <a:pPr indent="0" algn="l">
              <a:lnSpc>
                <a:spcPct val="116666"/>
              </a:lnSpc>
            </a:pPr>
            <a:r>
              <a:rPr lang="en-US" sz="1200" b="1" i="0" u="none" strike="noStrike">
                <a:solidFill>
                  <a:srgbClr val="4B5563"/>
                </a:solidFill>
                <a:latin typeface="Noto Sans SC"/>
                <a:ea typeface="Noto Sans SC"/>
                <a:cs typeface="Noto Sans SC"/>
                <a:sym typeface="Noto Sans SC"/>
              </a:rPr>
              <a:t>解决方案：</a:t>
            </a:r>
            <a:r>
              <a:rPr lang="en-US" sz="1200" b="0" i="0" u="none" strike="noStrike">
                <a:solidFill>
                  <a:srgbClr val="4B5563"/>
                </a:solidFill>
                <a:latin typeface="Noto Sans SC"/>
                <a:ea typeface="Noto Sans SC"/>
                <a:cs typeface="Noto Sans SC"/>
                <a:sym typeface="Noto Sans SC"/>
              </a:rPr>
              <a:t>以解决“</a:t>
            </a:r>
            <a:r>
              <a:rPr lang="en-US" sz="1200" b="1" i="0" u="none" strike="noStrike">
                <a:solidFill>
                  <a:srgbClr val="10B981"/>
                </a:solidFill>
                <a:latin typeface="Noto Sans SC"/>
                <a:ea typeface="Noto Sans SC"/>
                <a:cs typeface="Noto Sans SC"/>
                <a:sym typeface="Noto Sans SC"/>
              </a:rPr>
              <a:t>传输慢、移植难、阻塞卡顿</a:t>
            </a:r>
            <a:r>
              <a:rPr lang="en-US" sz="1200" b="0" i="0" u="none" strike="noStrike">
                <a:solidFill>
                  <a:srgbClr val="4B5563"/>
                </a:solidFill>
                <a:latin typeface="Noto Sans SC"/>
                <a:ea typeface="Noto Sans SC"/>
                <a:cs typeface="Noto Sans SC"/>
                <a:sym typeface="Noto Sans SC"/>
              </a:rPr>
              <a:t>”为核心，提供一套完整的系统级优化方案。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总体研究目标与五大核心内容</a:t>
            </a:r>
            <a:endParaRPr lang="en-US" sz="1100"/>
          </a:p>
        </p:txBody>
      </p:sp>
      <p:sp>
        <p:nvSpPr>
          <p:cNvPr id="4" name="AutoShape 4"/>
          <p:cNvSpPr/>
          <p:nvPr/>
        </p:nvSpPr>
        <p:spPr>
          <a:xfrm>
            <a:off x="762000" y="1397000"/>
            <a:ext cx="4064000" cy="4826000"/>
          </a:xfrm>
          <a:prstGeom prst="roundRect">
            <a:avLst>
              <a:gd name="adj" fmla="val 375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714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01 / 总体研究目标</a:t>
            </a:r>
            <a:endParaRPr lang="en-US" sz="1100"/>
          </a:p>
        </p:txBody>
      </p:sp>
      <p:sp>
        <p:nvSpPr>
          <p:cNvPr id="6" name="AutoShape 6"/>
          <p:cNvSpPr/>
          <p:nvPr/>
        </p:nvSpPr>
        <p:spPr>
          <a:xfrm>
            <a:off x="1016000" y="2286000"/>
            <a:ext cx="355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Noto Sans SC"/>
                <a:ea typeface="Noto Sans SC"/>
                <a:cs typeface="Noto Sans SC"/>
                <a:sym typeface="Noto Sans SC"/>
              </a:rPr>
              <a:t>设计并实现一款具备差分升级能力的高可靠 Bootloader 系统，旨在彻底解决传统 32 位嵌入式设备固件升级中面临的一系列工程难题。</a:t>
            </a:r>
            <a:endParaRPr lang="en-US" sz="1100"/>
          </a:p>
        </p:txBody>
      </p:sp>
      <p:sp>
        <p:nvSpPr>
          <p:cNvPr id="7" name="AutoShape 7"/>
          <p:cNvSpPr/>
          <p:nvPr/>
        </p:nvSpPr>
        <p:spPr>
          <a:xfrm>
            <a:off x="1016000" y="3429000"/>
            <a:ext cx="3556000" cy="1270000"/>
          </a:xfrm>
          <a:prstGeom prst="roundRect">
            <a:avLst>
              <a:gd name="adj" fmla="val 800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6500" y="36195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1" i="0" u="none" strike="noStrike">
                <a:solidFill>
                  <a:srgbClr val="059669"/>
                </a:solidFill>
                <a:latin typeface="Noto Sans SC"/>
                <a:ea typeface="Noto Sans SC"/>
                <a:cs typeface="Noto Sans SC"/>
                <a:sym typeface="Noto Sans SC"/>
              </a:rPr>
              <a:t>核心痛点攻克：</a:t>
            </a:r>
            <a:endParaRPr lang="en-US" sz="1100"/>
          </a:p>
          <a:p>
            <a:pPr indent="0" algn="l">
              <a:lnSpc>
                <a:spcPct val="116666"/>
              </a:lnSpc>
            </a:pPr>
            <a:r>
              <a:rPr lang="en-US" sz="1100" b="0" i="0" u="none" strike="noStrike">
                <a:solidFill>
                  <a:srgbClr val="047857"/>
                </a:solidFill>
                <a:latin typeface="Noto Sans SC"/>
                <a:ea typeface="Noto Sans SC"/>
                <a:cs typeface="Noto Sans SC"/>
                <a:sym typeface="Noto Sans SC"/>
              </a:rPr>
              <a:t>• 传输效率低，升级耗时过长</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047857"/>
                </a:solidFill>
                <a:latin typeface="Noto Sans SC"/>
                <a:ea typeface="Noto Sans SC"/>
                <a:cs typeface="Noto Sans SC"/>
                <a:sym typeface="Noto Sans SC"/>
              </a:rPr>
              <a:t>• 底层框架耦合度高，维护困难</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047857"/>
                </a:solidFill>
                <a:latin typeface="Noto Sans SC"/>
                <a:ea typeface="Noto Sans SC"/>
                <a:cs typeface="Noto Sans SC"/>
                <a:sym typeface="Noto Sans SC"/>
              </a:rPr>
              <a:t>• 大文件接收易阻塞，稳定性差</a:t>
            </a:r>
          </a:p>
        </p:txBody>
      </p:sp>
      <p:sp>
        <p:nvSpPr>
          <p:cNvPr id="9" name="AutoShape 9"/>
          <p:cNvSpPr/>
          <p:nvPr/>
        </p:nvSpPr>
        <p:spPr>
          <a:xfrm>
            <a:off x="1016000" y="4953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通过系统化的重构与优化，打造一个稳定、高效、易维护的嵌入式固件升级解决方案。</a:t>
            </a:r>
            <a:endParaRPr lang="en-US" sz="1100"/>
          </a:p>
        </p:txBody>
      </p:sp>
      <p:sp>
        <p:nvSpPr>
          <p:cNvPr id="10" name="AutoShape 10"/>
          <p:cNvSpPr/>
          <p:nvPr/>
        </p:nvSpPr>
        <p:spPr>
          <a:xfrm>
            <a:off x="5080000" y="1397000"/>
            <a:ext cx="3175000" cy="1397000"/>
          </a:xfrm>
          <a:prstGeom prst="roundRect">
            <a:avLst>
              <a:gd name="adj" fmla="val 10909"/>
            </a:avLst>
          </a:prstGeom>
          <a:solidFill>
            <a:srgbClr val="FFFFFF">
              <a:alpha val="95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70500" y="1651000"/>
            <a:ext cx="457200" cy="457200"/>
          </a:xfrm>
          <a:prstGeom prst="rect">
            <a:avLst/>
          </a:prstGeom>
        </p:spPr>
      </p:pic>
      <p:sp>
        <p:nvSpPr>
          <p:cNvPr id="12" name="AutoShape 12"/>
          <p:cNvSpPr/>
          <p:nvPr/>
        </p:nvSpPr>
        <p:spPr>
          <a:xfrm>
            <a:off x="5905500" y="1651000"/>
            <a:ext cx="215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存储映射与内存管理</a:t>
            </a:r>
            <a:endParaRPr lang="en-US" sz="1100"/>
          </a:p>
        </p:txBody>
      </p:sp>
      <p:sp>
        <p:nvSpPr>
          <p:cNvPr id="13" name="AutoShape 13"/>
          <p:cNvSpPr/>
          <p:nvPr/>
        </p:nvSpPr>
        <p:spPr>
          <a:xfrm>
            <a:off x="5905500" y="2095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重构空间映射表，实现精细化的动态内存分配与回收机制。</a:t>
            </a:r>
            <a:endParaRPr lang="en-US" sz="1100"/>
          </a:p>
        </p:txBody>
      </p:sp>
      <p:sp>
        <p:nvSpPr>
          <p:cNvPr id="14" name="AutoShape 14"/>
          <p:cNvSpPr/>
          <p:nvPr/>
        </p:nvSpPr>
        <p:spPr>
          <a:xfrm>
            <a:off x="5080000" y="3048000"/>
            <a:ext cx="3175000" cy="1397000"/>
          </a:xfrm>
          <a:prstGeom prst="roundRect">
            <a:avLst>
              <a:gd name="adj" fmla="val 10909"/>
            </a:avLst>
          </a:prstGeom>
          <a:solidFill>
            <a:srgbClr val="FFFFFF">
              <a:alpha val="95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70500" y="3302000"/>
            <a:ext cx="457200" cy="457200"/>
          </a:xfrm>
          <a:prstGeom prst="rect">
            <a:avLst/>
          </a:prstGeom>
        </p:spPr>
      </p:pic>
      <p:sp>
        <p:nvSpPr>
          <p:cNvPr id="16" name="AutoShape 16"/>
          <p:cNvSpPr/>
          <p:nvPr/>
        </p:nvSpPr>
        <p:spPr>
          <a:xfrm>
            <a:off x="5905500" y="3302000"/>
            <a:ext cx="215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纯C重写与代码复用</a:t>
            </a:r>
            <a:endParaRPr lang="en-US" sz="1100"/>
          </a:p>
        </p:txBody>
      </p:sp>
      <p:sp>
        <p:nvSpPr>
          <p:cNvPr id="17" name="AutoShape 17"/>
          <p:cNvSpPr/>
          <p:nvPr/>
        </p:nvSpPr>
        <p:spPr>
          <a:xfrm>
            <a:off x="5905500" y="3746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基于纯C语言重写核心启动流程，提高代码的可移植性与复用率。</a:t>
            </a:r>
            <a:endParaRPr lang="en-US" sz="1100"/>
          </a:p>
        </p:txBody>
      </p:sp>
      <p:sp>
        <p:nvSpPr>
          <p:cNvPr id="18" name="AutoShape 18"/>
          <p:cNvSpPr/>
          <p:nvPr/>
        </p:nvSpPr>
        <p:spPr>
          <a:xfrm>
            <a:off x="5080000" y="4699000"/>
            <a:ext cx="3175000" cy="1397000"/>
          </a:xfrm>
          <a:prstGeom prst="roundRect">
            <a:avLst>
              <a:gd name="adj" fmla="val 10909"/>
            </a:avLst>
          </a:prstGeom>
          <a:solidFill>
            <a:srgbClr val="FFFFFF">
              <a:alpha val="95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70500" y="4953000"/>
            <a:ext cx="457200" cy="457200"/>
          </a:xfrm>
          <a:prstGeom prst="rect">
            <a:avLst/>
          </a:prstGeom>
        </p:spPr>
      </p:pic>
      <p:sp>
        <p:nvSpPr>
          <p:cNvPr id="20" name="AutoShape 20"/>
          <p:cNvSpPr/>
          <p:nvPr/>
        </p:nvSpPr>
        <p:spPr>
          <a:xfrm>
            <a:off x="5905500" y="4953000"/>
            <a:ext cx="215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RTOS移植与资源监控</a:t>
            </a:r>
            <a:endParaRPr lang="en-US" sz="1100"/>
          </a:p>
        </p:txBody>
      </p:sp>
      <p:sp>
        <p:nvSpPr>
          <p:cNvPr id="21" name="AutoShape 21"/>
          <p:cNvSpPr/>
          <p:nvPr/>
        </p:nvSpPr>
        <p:spPr>
          <a:xfrm>
            <a:off x="5905500" y="5397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完成实时操作系统的底层移植，设计多维度的系统运行资源监控。</a:t>
            </a:r>
            <a:endParaRPr lang="en-US" sz="1100"/>
          </a:p>
        </p:txBody>
      </p:sp>
      <p:sp>
        <p:nvSpPr>
          <p:cNvPr id="22" name="AutoShape 22"/>
          <p:cNvSpPr/>
          <p:nvPr/>
        </p:nvSpPr>
        <p:spPr>
          <a:xfrm>
            <a:off x="8509000" y="1397000"/>
            <a:ext cx="2921000" cy="1397000"/>
          </a:xfrm>
          <a:prstGeom prst="roundRect">
            <a:avLst>
              <a:gd name="adj" fmla="val 10909"/>
            </a:avLst>
          </a:prstGeom>
          <a:solidFill>
            <a:srgbClr val="FFFFFF">
              <a:alpha val="95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99500" y="1651000"/>
            <a:ext cx="457200" cy="457200"/>
          </a:xfrm>
          <a:prstGeom prst="rect">
            <a:avLst/>
          </a:prstGeom>
        </p:spPr>
      </p:pic>
      <p:sp>
        <p:nvSpPr>
          <p:cNvPr id="24" name="AutoShape 24"/>
          <p:cNvSpPr/>
          <p:nvPr/>
        </p:nvSpPr>
        <p:spPr>
          <a:xfrm>
            <a:off x="9334500" y="1651000"/>
            <a:ext cx="1905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智能文件传输机制</a:t>
            </a:r>
            <a:endParaRPr lang="en-US" sz="1100"/>
          </a:p>
        </p:txBody>
      </p:sp>
      <p:sp>
        <p:nvSpPr>
          <p:cNvPr id="25" name="AutoShape 25"/>
          <p:cNvSpPr/>
          <p:nvPr/>
        </p:nvSpPr>
        <p:spPr>
          <a:xfrm>
            <a:off x="9334500" y="20955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基于Ymodem协议实现断点续传，解决大文件传输的稳定性问题。</a:t>
            </a:r>
            <a:endParaRPr lang="en-US" sz="1100"/>
          </a:p>
        </p:txBody>
      </p:sp>
      <p:sp>
        <p:nvSpPr>
          <p:cNvPr id="26" name="AutoShape 26"/>
          <p:cNvSpPr/>
          <p:nvPr/>
        </p:nvSpPr>
        <p:spPr>
          <a:xfrm>
            <a:off x="8509000" y="3048000"/>
            <a:ext cx="2921000" cy="1397000"/>
          </a:xfrm>
          <a:prstGeom prst="roundRect">
            <a:avLst>
              <a:gd name="adj" fmla="val 10909"/>
            </a:avLst>
          </a:prstGeom>
          <a:solidFill>
            <a:srgbClr val="FFFFFF">
              <a:alpha val="95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9500" y="3302000"/>
            <a:ext cx="457200" cy="457200"/>
          </a:xfrm>
          <a:prstGeom prst="rect">
            <a:avLst/>
          </a:prstGeom>
        </p:spPr>
      </p:pic>
      <p:sp>
        <p:nvSpPr>
          <p:cNvPr id="28" name="AutoShape 28"/>
          <p:cNvSpPr/>
          <p:nvPr/>
        </p:nvSpPr>
        <p:spPr>
          <a:xfrm>
            <a:off x="9334500" y="3302000"/>
            <a:ext cx="1905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差分还原算法优化</a:t>
            </a:r>
            <a:endParaRPr lang="en-US" sz="1100"/>
          </a:p>
        </p:txBody>
      </p:sp>
      <p:sp>
        <p:nvSpPr>
          <p:cNvPr id="29" name="AutoShape 29"/>
          <p:cNvSpPr/>
          <p:nvPr/>
        </p:nvSpPr>
        <p:spPr>
          <a:xfrm>
            <a:off x="9334500" y="37465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移植轻量级detools算法，实现固件的高效差分生成与本地还原。</a:t>
            </a:r>
            <a:endParaRPr lang="en-US" sz="1100"/>
          </a:p>
        </p:txBody>
      </p:sp>
      <p:sp>
        <p:nvSpPr>
          <p:cNvPr id="30" name="AutoShape 30"/>
          <p:cNvSpPr/>
          <p:nvPr/>
        </p:nvSpPr>
        <p:spPr>
          <a:xfrm>
            <a:off x="8509000" y="4699000"/>
            <a:ext cx="2921000" cy="1397000"/>
          </a:xfrm>
          <a:prstGeom prst="roundRect">
            <a:avLst>
              <a:gd name="adj" fmla="val 10909"/>
            </a:avLst>
          </a:prstGeom>
          <a:solidFill>
            <a:srgbClr val="10B981">
              <a:alpha val="1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99500" y="4953000"/>
            <a:ext cx="457200" cy="457200"/>
          </a:xfrm>
          <a:prstGeom prst="rect">
            <a:avLst/>
          </a:prstGeom>
        </p:spPr>
      </p:pic>
      <p:sp>
        <p:nvSpPr>
          <p:cNvPr id="32" name="AutoShape 32"/>
          <p:cNvSpPr/>
          <p:nvPr/>
        </p:nvSpPr>
        <p:spPr>
          <a:xfrm>
            <a:off x="9334500" y="4953000"/>
            <a:ext cx="1905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系统可靠性验证</a:t>
            </a:r>
            <a:endParaRPr lang="en-US" sz="1100"/>
          </a:p>
        </p:txBody>
      </p:sp>
      <p:sp>
        <p:nvSpPr>
          <p:cNvPr id="33" name="AutoShape 33"/>
          <p:cNvSpPr/>
          <p:nvPr/>
        </p:nvSpPr>
        <p:spPr>
          <a:xfrm>
            <a:off x="9334500" y="53975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通过多场景压力测试，确保Bootloader在异常断电下的鲁棒性。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分层解耦的模块化架构</a:t>
            </a:r>
            <a:endParaRPr lang="en-US" sz="1100"/>
          </a:p>
        </p:txBody>
      </p:sp>
      <p:sp>
        <p:nvSpPr>
          <p:cNvPr id="4" name="AutoShape 4"/>
          <p:cNvSpPr/>
          <p:nvPr/>
        </p:nvSpPr>
        <p:spPr>
          <a:xfrm>
            <a:off x="762000" y="1397000"/>
            <a:ext cx="5207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397000"/>
            <a:ext cx="76200" cy="2286000"/>
          </a:xfrm>
          <a:prstGeom prst="roundRect">
            <a:avLst>
              <a:gd name="adj" fmla="val 20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1651000"/>
            <a:ext cx="711200" cy="711200"/>
          </a:xfrm>
          <a:prstGeom prst="rect">
            <a:avLst/>
          </a:prstGeom>
        </p:spPr>
      </p:pic>
      <p:sp>
        <p:nvSpPr>
          <p:cNvPr id="7" name="AutoShape 7"/>
          <p:cNvSpPr/>
          <p:nvPr/>
        </p:nvSpPr>
        <p:spPr>
          <a:xfrm>
            <a:off x="2032000" y="165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Layer 3 · 操作系统调度层</a:t>
            </a:r>
            <a:endParaRPr lang="en-US" sz="1100"/>
          </a:p>
        </p:txBody>
      </p:sp>
      <p:sp>
        <p:nvSpPr>
          <p:cNvPr id="8" name="AutoShape 8"/>
          <p:cNvSpPr/>
          <p:nvPr/>
        </p:nvSpPr>
        <p:spPr>
          <a:xfrm>
            <a:off x="2032000" y="2222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核心功能：</a:t>
            </a:r>
            <a:endParaRPr lang="en-US" sz="1100"/>
          </a:p>
          <a:p>
            <a:pPr indent="0" algn="l">
              <a:lnSpc>
                <a:spcPct val="125000"/>
              </a:lnSpc>
            </a:pPr>
            <a:r>
              <a:rPr lang="en-US" sz="1200" b="0" i="0" u="none" strike="noStrike">
                <a:solidFill>
                  <a:srgbClr val="4B5563"/>
                </a:solidFill>
                <a:latin typeface="Noto Sans SC"/>
                <a:ea typeface="Noto Sans SC"/>
                <a:cs typeface="Noto Sans SC"/>
                <a:sym typeface="Noto Sans SC"/>
              </a:rPr>
              <a:t>多任务并发调度，确保实时性与响应速度</a:t>
            </a:r>
          </a:p>
        </p:txBody>
      </p:sp>
      <p:sp>
        <p:nvSpPr>
          <p:cNvPr id="9" name="AutoShape 9"/>
          <p:cNvSpPr/>
          <p:nvPr/>
        </p:nvSpPr>
        <p:spPr>
          <a:xfrm>
            <a:off x="2032000" y="292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关键技术：</a:t>
            </a:r>
            <a:r>
              <a:rPr lang="en-US" sz="1100" b="0" i="0" u="none" strike="noStrike">
                <a:solidFill>
                  <a:srgbClr val="059669"/>
                </a:solidFill>
                <a:highlight>
                  <a:srgbClr val="ECFDF5">
                    <a:alpha val="100000"/>
                  </a:srgbClr>
                </a:highlight>
                <a:latin typeface="Noto Sans SC"/>
                <a:ea typeface="Noto Sans SC"/>
                <a:cs typeface="Noto Sans SC"/>
                <a:sym typeface="Noto Sans SC"/>
              </a:rPr>
              <a:t>RT-Thread Nano信号量机制</a:t>
            </a:r>
            <a:endParaRPr lang="en-US" sz="1100"/>
          </a:p>
        </p:txBody>
      </p:sp>
      <p:sp>
        <p:nvSpPr>
          <p:cNvPr id="10" name="AutoShape 10"/>
          <p:cNvSpPr/>
          <p:nvPr/>
        </p:nvSpPr>
        <p:spPr>
          <a:xfrm>
            <a:off x="6223000" y="1397000"/>
            <a:ext cx="5207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223000" y="1397000"/>
            <a:ext cx="76200" cy="2286000"/>
          </a:xfrm>
          <a:prstGeom prst="roundRect">
            <a:avLst>
              <a:gd name="adj" fmla="val 20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651000"/>
            <a:ext cx="711200" cy="711200"/>
          </a:xfrm>
          <a:prstGeom prst="rect">
            <a:avLst/>
          </a:prstGeom>
        </p:spPr>
      </p:pic>
      <p:sp>
        <p:nvSpPr>
          <p:cNvPr id="13" name="AutoShape 13"/>
          <p:cNvSpPr/>
          <p:nvPr/>
        </p:nvSpPr>
        <p:spPr>
          <a:xfrm>
            <a:off x="7493000" y="165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Layer 4 · 升级业务逻辑层</a:t>
            </a:r>
            <a:endParaRPr lang="en-US" sz="1100"/>
          </a:p>
        </p:txBody>
      </p:sp>
      <p:sp>
        <p:nvSpPr>
          <p:cNvPr id="14" name="AutoShape 14"/>
          <p:cNvSpPr/>
          <p:nvPr/>
        </p:nvSpPr>
        <p:spPr>
          <a:xfrm>
            <a:off x="7493000" y="2222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核心功能：</a:t>
            </a:r>
            <a:endParaRPr lang="en-US" sz="1100"/>
          </a:p>
          <a:p>
            <a:pPr indent="0" algn="l">
              <a:lnSpc>
                <a:spcPct val="125000"/>
              </a:lnSpc>
            </a:pPr>
            <a:r>
              <a:rPr lang="en-US" sz="1200" b="0" i="0" u="none" strike="noStrike">
                <a:solidFill>
                  <a:srgbClr val="4B5563"/>
                </a:solidFill>
                <a:latin typeface="Noto Sans SC"/>
                <a:ea typeface="Noto Sans SC"/>
                <a:cs typeface="Noto Sans SC"/>
                <a:sym typeface="Noto Sans SC"/>
              </a:rPr>
              <a:t>通信与文件传输、差分固件高效还原引擎</a:t>
            </a:r>
          </a:p>
        </p:txBody>
      </p:sp>
      <p:sp>
        <p:nvSpPr>
          <p:cNvPr id="15" name="AutoShape 15"/>
          <p:cNvSpPr/>
          <p:nvPr/>
        </p:nvSpPr>
        <p:spPr>
          <a:xfrm>
            <a:off x="7493000" y="292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关键技术：</a:t>
            </a:r>
            <a:r>
              <a:rPr lang="en-US" sz="1100" b="0" i="0" u="none" strike="noStrike">
                <a:solidFill>
                  <a:srgbClr val="059669"/>
                </a:solidFill>
                <a:highlight>
                  <a:srgbClr val="ECFDF5">
                    <a:alpha val="100000"/>
                  </a:srgbClr>
                </a:highlight>
                <a:latin typeface="Noto Sans SC"/>
                <a:ea typeface="Noto Sans SC"/>
                <a:cs typeface="Noto Sans SC"/>
                <a:sym typeface="Noto Sans SC"/>
              </a:rPr>
              <a:t>Ymodem协议detools差分算法</a:t>
            </a:r>
            <a:endParaRPr lang="en-US" sz="1100"/>
          </a:p>
        </p:txBody>
      </p:sp>
      <p:sp>
        <p:nvSpPr>
          <p:cNvPr id="16" name="AutoShape 16"/>
          <p:cNvSpPr/>
          <p:nvPr/>
        </p:nvSpPr>
        <p:spPr>
          <a:xfrm>
            <a:off x="762000" y="3937000"/>
            <a:ext cx="5207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3937000"/>
            <a:ext cx="76200" cy="2286000"/>
          </a:xfrm>
          <a:prstGeom prst="roundRect">
            <a:avLst>
              <a:gd name="adj" fmla="val 20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191000"/>
            <a:ext cx="711200" cy="711200"/>
          </a:xfrm>
          <a:prstGeom prst="rect">
            <a:avLst/>
          </a:prstGeom>
        </p:spPr>
      </p:pic>
      <p:sp>
        <p:nvSpPr>
          <p:cNvPr id="19" name="AutoShape 19"/>
          <p:cNvSpPr/>
          <p:nvPr/>
        </p:nvSpPr>
        <p:spPr>
          <a:xfrm>
            <a:off x="2032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Layer 1 · 硬件抽象与启动层</a:t>
            </a:r>
            <a:endParaRPr lang="en-US" sz="1100"/>
          </a:p>
        </p:txBody>
      </p:sp>
      <p:sp>
        <p:nvSpPr>
          <p:cNvPr id="20" name="AutoShape 20"/>
          <p:cNvSpPr/>
          <p:nvPr/>
        </p:nvSpPr>
        <p:spPr>
          <a:xfrm>
            <a:off x="2032000" y="4762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核心功能：</a:t>
            </a:r>
            <a:endParaRPr lang="en-US" sz="1100"/>
          </a:p>
          <a:p>
            <a:pPr indent="0" algn="l">
              <a:lnSpc>
                <a:spcPct val="125000"/>
              </a:lnSpc>
            </a:pPr>
            <a:r>
              <a:rPr lang="en-US" sz="1200" b="0" i="0" u="none" strike="noStrike">
                <a:solidFill>
                  <a:srgbClr val="4B5563"/>
                </a:solidFill>
                <a:latin typeface="Noto Sans SC"/>
                <a:ea typeface="Noto Sans SC"/>
                <a:cs typeface="Noto Sans SC"/>
                <a:sym typeface="Noto Sans SC"/>
              </a:rPr>
              <a:t>屏蔽底层硬件差异、系统上电初始化与引导</a:t>
            </a:r>
          </a:p>
        </p:txBody>
      </p:sp>
      <p:sp>
        <p:nvSpPr>
          <p:cNvPr id="21" name="AutoShape 21"/>
          <p:cNvSpPr/>
          <p:nvPr/>
        </p:nvSpPr>
        <p:spPr>
          <a:xfrm>
            <a:off x="2032000" y="546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关键技术：</a:t>
            </a:r>
            <a:r>
              <a:rPr lang="en-US" sz="1100" b="0" i="0" u="none" strike="noStrike">
                <a:solidFill>
                  <a:srgbClr val="059669"/>
                </a:solidFill>
                <a:highlight>
                  <a:srgbClr val="ECFDF5">
                    <a:alpha val="100000"/>
                  </a:srgbClr>
                </a:highlight>
                <a:latin typeface="Noto Sans SC"/>
                <a:ea typeface="Noto Sans SC"/>
                <a:cs typeface="Noto Sans SC"/>
                <a:sym typeface="Noto Sans SC"/>
              </a:rPr>
              <a:t>纯C语言开发Reset_Handler</a:t>
            </a:r>
            <a:endParaRPr lang="en-US" sz="1100"/>
          </a:p>
        </p:txBody>
      </p:sp>
      <p:sp>
        <p:nvSpPr>
          <p:cNvPr id="22" name="AutoShape 22"/>
          <p:cNvSpPr/>
          <p:nvPr/>
        </p:nvSpPr>
        <p:spPr>
          <a:xfrm>
            <a:off x="6223000" y="3937000"/>
            <a:ext cx="5207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6223000" y="3937000"/>
            <a:ext cx="76200" cy="2286000"/>
          </a:xfrm>
          <a:prstGeom prst="roundRect">
            <a:avLst>
              <a:gd name="adj" fmla="val 20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191000"/>
            <a:ext cx="711200" cy="711200"/>
          </a:xfrm>
          <a:prstGeom prst="rect">
            <a:avLst/>
          </a:prstGeom>
        </p:spPr>
      </p:pic>
      <p:sp>
        <p:nvSpPr>
          <p:cNvPr id="25" name="AutoShape 25"/>
          <p:cNvSpPr/>
          <p:nvPr/>
        </p:nvSpPr>
        <p:spPr>
          <a:xfrm>
            <a:off x="7493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Layer 2 · 存储与状态管理层</a:t>
            </a:r>
            <a:endParaRPr lang="en-US" sz="1100"/>
          </a:p>
        </p:txBody>
      </p:sp>
      <p:sp>
        <p:nvSpPr>
          <p:cNvPr id="26" name="AutoShape 26"/>
          <p:cNvSpPr/>
          <p:nvPr/>
        </p:nvSpPr>
        <p:spPr>
          <a:xfrm>
            <a:off x="7493000" y="4762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核心功能：</a:t>
            </a:r>
            <a:endParaRPr lang="en-US" sz="1100"/>
          </a:p>
          <a:p>
            <a:pPr indent="0" algn="l">
              <a:lnSpc>
                <a:spcPct val="125000"/>
              </a:lnSpc>
            </a:pPr>
            <a:r>
              <a:rPr lang="en-US" sz="1200" b="0" i="0" u="none" strike="noStrike">
                <a:solidFill>
                  <a:srgbClr val="4B5563"/>
                </a:solidFill>
                <a:latin typeface="Noto Sans SC"/>
                <a:ea typeface="Noto Sans SC"/>
                <a:cs typeface="Noto Sans SC"/>
                <a:sym typeface="Noto Sans SC"/>
              </a:rPr>
              <a:t>Flash物理空间划分、系统运行状态安全传递</a:t>
            </a:r>
          </a:p>
        </p:txBody>
      </p:sp>
      <p:sp>
        <p:nvSpPr>
          <p:cNvPr id="27" name="AutoShape 27"/>
          <p:cNvSpPr/>
          <p:nvPr/>
        </p:nvSpPr>
        <p:spPr>
          <a:xfrm>
            <a:off x="7493000" y="546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a:ea typeface="Noto Sans SC"/>
                <a:cs typeface="Noto Sans SC"/>
                <a:sym typeface="Noto Sans SC"/>
              </a:rPr>
              <a:t>关键技术：</a:t>
            </a:r>
            <a:r>
              <a:rPr lang="en-US" sz="1100" b="0" i="0" u="none" strike="noStrike">
                <a:solidFill>
                  <a:srgbClr val="059669"/>
                </a:solidFill>
                <a:highlight>
                  <a:srgbClr val="ECFDF5">
                    <a:alpha val="100000"/>
                  </a:srgbClr>
                </a:highlight>
                <a:latin typeface="Noto Sans SC"/>
                <a:ea typeface="Noto Sans SC"/>
                <a:cs typeface="Noto Sans SC"/>
                <a:sym typeface="Noto Sans SC"/>
              </a:rPr>
              <a:t>Flash四分区设计No-Init RAM</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精细化存储管理：Flash与RAM的重构</a:t>
            </a:r>
            <a:endParaRPr lang="en-US" sz="1100"/>
          </a:p>
        </p:txBody>
      </p:sp>
      <p:sp>
        <p:nvSpPr>
          <p:cNvPr id="4" name="AutoShape 4"/>
          <p:cNvSpPr/>
          <p:nvPr/>
        </p:nvSpPr>
        <p:spPr>
          <a:xfrm>
            <a:off x="762000" y="1397000"/>
            <a:ext cx="5207000" cy="4953000"/>
          </a:xfrm>
          <a:prstGeom prst="roundRect">
            <a:avLst>
              <a:gd name="adj" fmla="val 4102"/>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a:ea typeface="Noto Sans SC"/>
                <a:cs typeface="Noto Sans SC"/>
                <a:sym typeface="Noto Sans SC"/>
              </a:rPr>
              <a:t>Flash 存储区划分 (基于 STM32H743)</a:t>
            </a:r>
            <a:endParaRPr lang="en-US" sz="1100"/>
          </a:p>
        </p:txBody>
      </p:sp>
      <p:graphicFrame>
        <p:nvGraphicFramePr>
          <p:cNvPr id="6" name="Table 6"/>
          <p:cNvGraphicFramePr>
            <a:graphicFrameLocks noGrp="1"/>
          </p:cNvGraphicFramePr>
          <p:nvPr/>
        </p:nvGraphicFramePr>
        <p:xfrm>
          <a:off x="1016000" y="2286000"/>
          <a:ext cx="4699000" cy="35560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地址范围</a:t>
                      </a:r>
                      <a:endParaRPr lang="en-US" sz="1100"/>
                    </a:p>
                  </a:txBody>
                  <a:tcPr marL="101600" marR="101600" marT="101600" marB="101600" anchor="ctr">
                    <a:lnL>
                      <a:noFill/>
                    </a:lnL>
                    <a:lnR>
                      <a:noFill/>
                    </a:lnR>
                    <a:lnT>
                      <a:noFill/>
                    </a:lnT>
                    <a:lnB>
                      <a:noFill/>
                    </a:lnB>
                    <a:solidFill>
                      <a:srgbClr val="10B981">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分区</a:t>
                      </a:r>
                      <a:endParaRPr lang="en-US" sz="1100"/>
                    </a:p>
                  </a:txBody>
                  <a:tcPr marL="101600" marR="101600" marT="101600" marB="101600" anchor="ctr">
                    <a:lnL>
                      <a:noFill/>
                    </a:lnL>
                    <a:lnR>
                      <a:noFill/>
                    </a:lnR>
                    <a:lnT>
                      <a:noFill/>
                    </a:lnT>
                    <a:lnB>
                      <a:noFill/>
                    </a:lnB>
                    <a:solidFill>
                      <a:srgbClr val="10B981">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容量</a:t>
                      </a:r>
                      <a:endParaRPr lang="en-US" sz="1100"/>
                    </a:p>
                  </a:txBody>
                  <a:tcPr marL="101600" marR="101600" marT="101600" marB="101600" anchor="ctr">
                    <a:lnL>
                      <a:noFill/>
                    </a:lnL>
                    <a:lnR>
                      <a:noFill/>
                    </a:lnR>
                    <a:lnT>
                      <a:noFill/>
                    </a:lnT>
                    <a:lnB>
                      <a:noFill/>
                    </a:lnB>
                    <a:solidFill>
                      <a:srgbClr val="10B981">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核心功能</a:t>
                      </a:r>
                      <a:endParaRPr lang="en-US" sz="1100"/>
                    </a:p>
                  </a:txBody>
                  <a:tcPr marL="101600" marR="101600" marT="101600" marB="101600" anchor="ctr">
                    <a:lnL>
                      <a:noFill/>
                    </a:lnL>
                    <a:lnR>
                      <a:noFill/>
                    </a:lnR>
                    <a:lnT>
                      <a:noFill/>
                    </a:lnT>
                    <a:lnB>
                      <a:noFill/>
                    </a:lnB>
                    <a:solidFill>
                      <a:srgbClr val="10B981">
                        <a:alpha val="100000"/>
                      </a:srgbClr>
                    </a:solidFill>
                  </a:tcPr>
                </a:tc>
                <a:extLst>
                  <a:ext uri="{0D108BD9-81ED-4DB2-BD59-A6C34878D82A}">
                    <a16:rowId xmlns:a16="http://schemas.microsoft.com/office/drawing/2014/main" val="10000"/>
                  </a:ext>
                </a:extLst>
              </a:tr>
              <a:tr h="762000">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0x08000000</a:t>
                      </a:r>
                      <a:br>
                        <a:rPr lang="en-US" sz="1100" b="0" i="0" u="none" strike="noStrike">
                          <a:solidFill>
                            <a:srgbClr val="374151"/>
                          </a:solidFill>
                          <a:latin typeface="Noto Sans SC"/>
                          <a:ea typeface="Noto Sans SC"/>
                          <a:cs typeface="Noto Sans SC"/>
                          <a:sym typeface="Noto Sans SC"/>
                        </a:rPr>
                      </a:br>
                      <a:r>
                        <a:rPr lang="en-US" sz="1100" b="0" i="0" u="none" strike="noStrike">
                          <a:solidFill>
                            <a:srgbClr val="374151"/>
                          </a:solidFill>
                          <a:latin typeface="Noto Sans SC"/>
                          <a:ea typeface="Noto Sans SC"/>
                          <a:cs typeface="Noto Sans SC"/>
                          <a:sym typeface="Noto Sans SC"/>
                        </a:rPr>
                        <a:t>- 0x0803FFFF</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1" i="0" u="none" strike="noStrike">
                          <a:solidFill>
                            <a:srgbClr val="1F2937"/>
                          </a:solidFill>
                          <a:latin typeface="Noto Sans SC"/>
                          <a:ea typeface="Noto Sans SC"/>
                          <a:cs typeface="Noto Sans SC"/>
                          <a:sym typeface="Noto Sans SC"/>
                        </a:rPr>
                        <a:t>LOADER</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256KB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系统引导与</a:t>
                      </a:r>
                      <a:br>
                        <a:rPr lang="en-US" sz="1100" b="0" i="0" u="none" strike="noStrike">
                          <a:solidFill>
                            <a:srgbClr val="4B5563"/>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固件升级控制核心</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762000">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0x08040000</a:t>
                      </a:r>
                      <a:br>
                        <a:rPr lang="en-US" sz="1100" b="0" i="0" u="none" strike="noStrike">
                          <a:solidFill>
                            <a:srgbClr val="374151"/>
                          </a:solidFill>
                          <a:latin typeface="Noto Sans SC"/>
                          <a:ea typeface="Noto Sans SC"/>
                          <a:cs typeface="Noto Sans SC"/>
                          <a:sym typeface="Noto Sans SC"/>
                        </a:rPr>
                      </a:br>
                      <a:r>
                        <a:rPr lang="en-US" sz="1100" b="0" i="0" u="none" strike="noStrike">
                          <a:solidFill>
                            <a:srgbClr val="374151"/>
                          </a:solidFill>
                          <a:latin typeface="Noto Sans SC"/>
                          <a:ea typeface="Noto Sans SC"/>
                          <a:cs typeface="Noto Sans SC"/>
                          <a:sym typeface="Noto Sans SC"/>
                        </a:rPr>
                        <a:t>- 0x080FFFFF</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1" i="0" u="none" strike="noStrike">
                          <a:solidFill>
                            <a:srgbClr val="1F2937"/>
                          </a:solidFill>
                          <a:latin typeface="Noto Sans SC"/>
                          <a:ea typeface="Noto Sans SC"/>
                          <a:cs typeface="Noto Sans SC"/>
                          <a:sym typeface="Noto Sans SC"/>
                        </a:rPr>
                        <a:t>USER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768KB</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用户核心应用</a:t>
                      </a:r>
                      <a:br>
                        <a:rPr lang="en-US" sz="1100" b="0" i="0" u="none" strike="noStrike">
                          <a:solidFill>
                            <a:srgbClr val="4B5563"/>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程序执行区</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762000">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0x08100000</a:t>
                      </a:r>
                      <a:br>
                        <a:rPr lang="en-US" sz="1100" b="0" i="0" u="none" strike="noStrike">
                          <a:solidFill>
                            <a:srgbClr val="374151"/>
                          </a:solidFill>
                          <a:latin typeface="Noto Sans SC"/>
                          <a:ea typeface="Noto Sans SC"/>
                          <a:cs typeface="Noto Sans SC"/>
                          <a:sym typeface="Noto Sans SC"/>
                        </a:rPr>
                      </a:br>
                      <a:r>
                        <a:rPr lang="en-US" sz="1100" b="0" i="0" u="none" strike="noStrike">
                          <a:solidFill>
                            <a:srgbClr val="374151"/>
                          </a:solidFill>
                          <a:latin typeface="Noto Sans SC"/>
                          <a:ea typeface="Noto Sans SC"/>
                          <a:cs typeface="Noto Sans SC"/>
                          <a:sym typeface="Noto Sans SC"/>
                        </a:rPr>
                        <a:t>- 0x0813FFFF</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1" i="0" u="none" strike="noStrike">
                          <a:solidFill>
                            <a:srgbClr val="1F2937"/>
                          </a:solidFill>
                          <a:latin typeface="Noto Sans SC"/>
                          <a:ea typeface="Noto Sans SC"/>
                          <a:cs typeface="Noto Sans SC"/>
                          <a:sym typeface="Noto Sans SC"/>
                        </a:rPr>
                        <a:t>PATCH</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256KB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OTA 差分固件</a:t>
                      </a:r>
                      <a:br>
                        <a:rPr lang="en-US" sz="1100" b="0" i="0" u="none" strike="noStrike">
                          <a:solidFill>
                            <a:srgbClr val="4B5563"/>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包暂存与校验区</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3"/>
                  </a:ext>
                </a:extLst>
              </a:tr>
              <a:tr h="762000">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0x08140000</a:t>
                      </a:r>
                      <a:br>
                        <a:rPr lang="en-US" sz="1100" b="0" i="0" u="none" strike="noStrike">
                          <a:solidFill>
                            <a:srgbClr val="374151"/>
                          </a:solidFill>
                          <a:latin typeface="Noto Sans SC"/>
                          <a:ea typeface="Noto Sans SC"/>
                          <a:cs typeface="Noto Sans SC"/>
                          <a:sym typeface="Noto Sans SC"/>
                        </a:rPr>
                      </a:br>
                      <a:r>
                        <a:rPr lang="en-US" sz="1100" b="0" i="0" u="none" strike="noStrike">
                          <a:solidFill>
                            <a:srgbClr val="374151"/>
                          </a:solidFill>
                          <a:latin typeface="Noto Sans SC"/>
                          <a:ea typeface="Noto Sans SC"/>
                          <a:cs typeface="Noto Sans SC"/>
                          <a:sym typeface="Noto Sans SC"/>
                        </a:rPr>
                        <a:t>- 0x081FFFFF</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1" i="0" u="none" strike="noStrike">
                          <a:solidFill>
                            <a:srgbClr val="1F2937"/>
                          </a:solidFill>
                          <a:latin typeface="Noto Sans SC"/>
                          <a:ea typeface="Noto Sans SC"/>
                          <a:cs typeface="Noto Sans SC"/>
                          <a:sym typeface="Noto Sans SC"/>
                        </a:rPr>
                        <a:t>OEM</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100" b="0" i="0" u="none" strike="noStrike">
                          <a:solidFill>
                            <a:srgbClr val="374151"/>
                          </a:solidFill>
                          <a:latin typeface="Noto Sans SC"/>
                          <a:ea typeface="Noto Sans SC"/>
                          <a:cs typeface="Noto Sans SC"/>
                          <a:sym typeface="Noto Sans SC"/>
                        </a:rPr>
                        <a:t>768KB</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厂商出厂固件</a:t>
                      </a:r>
                      <a:br>
                        <a:rPr lang="en-US" sz="1100" b="0" i="0" u="none" strike="noStrike">
                          <a:solidFill>
                            <a:srgbClr val="4B5563"/>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安全备份与恢复区</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6223000" y="1397000"/>
            <a:ext cx="5207000" cy="4953000"/>
          </a:xfrm>
          <a:prstGeom prst="roundRect">
            <a:avLst>
              <a:gd name="adj" fmla="val 4102"/>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a:ea typeface="Noto Sans SC"/>
                <a:cs typeface="Noto Sans SC"/>
                <a:sym typeface="Noto Sans SC"/>
              </a:rPr>
              <a:t>RAM 存储区划分与数据共享机制</a:t>
            </a:r>
            <a:endParaRPr lang="en-US" sz="1100"/>
          </a:p>
        </p:txBody>
      </p:sp>
      <p:sp>
        <p:nvSpPr>
          <p:cNvPr id="9" name="AutoShape 9"/>
          <p:cNvSpPr/>
          <p:nvPr/>
        </p:nvSpPr>
        <p:spPr>
          <a:xfrm>
            <a:off x="6477000" y="2286000"/>
            <a:ext cx="4699000" cy="1143000"/>
          </a:xfrm>
          <a:prstGeom prst="roundRect">
            <a:avLst>
              <a:gd name="adj" fmla="val 13333"/>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540000"/>
            <a:ext cx="609600" cy="609600"/>
          </a:xfrm>
          <a:prstGeom prst="rect">
            <a:avLst/>
          </a:prstGeom>
        </p:spPr>
      </p:pic>
      <p:sp>
        <p:nvSpPr>
          <p:cNvPr id="11" name="AutoShape 11"/>
          <p:cNvSpPr/>
          <p:nvPr/>
        </p:nvSpPr>
        <p:spPr>
          <a:xfrm>
            <a:off x="7493000" y="24384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高速紧耦合内存 (ITCM / DTCM)</a:t>
            </a:r>
            <a:endParaRPr lang="en-US" sz="1100"/>
          </a:p>
        </p:txBody>
      </p:sp>
      <p:sp>
        <p:nvSpPr>
          <p:cNvPr id="12" name="AutoShape 12"/>
          <p:cNvSpPr/>
          <p:nvPr/>
        </p:nvSpPr>
        <p:spPr>
          <a:xfrm>
            <a:off x="7493000" y="2819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专门映射核心指令与高频数据，消除总线延迟，实现代码的“零等待”高速执行。</a:t>
            </a:r>
            <a:endParaRPr lang="en-US" sz="1100"/>
          </a:p>
        </p:txBody>
      </p:sp>
      <p:sp>
        <p:nvSpPr>
          <p:cNvPr id="13" name="AutoShape 13"/>
          <p:cNvSpPr/>
          <p:nvPr/>
        </p:nvSpPr>
        <p:spPr>
          <a:xfrm>
            <a:off x="6477000" y="3556000"/>
            <a:ext cx="4699000" cy="1143000"/>
          </a:xfrm>
          <a:prstGeom prst="roundRect">
            <a:avLst>
              <a:gd name="adj" fmla="val 13333"/>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3810000"/>
            <a:ext cx="609600" cy="609600"/>
          </a:xfrm>
          <a:prstGeom prst="rect">
            <a:avLst/>
          </a:prstGeom>
        </p:spPr>
      </p:pic>
      <p:sp>
        <p:nvSpPr>
          <p:cNvPr id="15" name="AutoShape 15"/>
          <p:cNvSpPr/>
          <p:nvPr/>
        </p:nvSpPr>
        <p:spPr>
          <a:xfrm>
            <a:off x="7493000" y="37084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常规数据内存 (AXI / AHB SRAM)</a:t>
            </a:r>
            <a:endParaRPr lang="en-US" sz="1100"/>
          </a:p>
        </p:txBody>
      </p:sp>
      <p:sp>
        <p:nvSpPr>
          <p:cNvPr id="16" name="AutoShape 16"/>
          <p:cNvSpPr/>
          <p:nvPr/>
        </p:nvSpPr>
        <p:spPr>
          <a:xfrm>
            <a:off x="7493000" y="4089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提供大容量的存储空间，作为系统运行时的主要堆栈区及大数据量的吞吐缓冲区。</a:t>
            </a:r>
            <a:endParaRPr lang="en-US" sz="1100"/>
          </a:p>
        </p:txBody>
      </p:sp>
      <p:sp>
        <p:nvSpPr>
          <p:cNvPr id="17" name="AutoShape 17"/>
          <p:cNvSpPr/>
          <p:nvPr/>
        </p:nvSpPr>
        <p:spPr>
          <a:xfrm>
            <a:off x="6477000" y="4826000"/>
            <a:ext cx="4699000" cy="1143000"/>
          </a:xfrm>
          <a:prstGeom prst="roundRect">
            <a:avLst>
              <a:gd name="adj" fmla="val 13333"/>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5080000"/>
            <a:ext cx="609600" cy="609600"/>
          </a:xfrm>
          <a:prstGeom prst="rect">
            <a:avLst/>
          </a:prstGeom>
        </p:spPr>
      </p:pic>
      <p:sp>
        <p:nvSpPr>
          <p:cNvPr id="19" name="AutoShape 19"/>
          <p:cNvSpPr/>
          <p:nvPr/>
        </p:nvSpPr>
        <p:spPr>
          <a:xfrm>
            <a:off x="7493000" y="49784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B45309"/>
                </a:solidFill>
                <a:latin typeface="Noto Sans SC"/>
                <a:ea typeface="Noto Sans SC"/>
                <a:cs typeface="Noto Sans SC"/>
                <a:sym typeface="Noto Sans SC"/>
              </a:rPr>
              <a:t>启动参数区 (No-Init RAM) · 创新点</a:t>
            </a:r>
            <a:endParaRPr lang="en-US" sz="1100"/>
          </a:p>
        </p:txBody>
      </p:sp>
      <p:sp>
        <p:nvSpPr>
          <p:cNvPr id="20" name="AutoShape 20"/>
          <p:cNvSpPr/>
          <p:nvPr/>
        </p:nvSpPr>
        <p:spPr>
          <a:xfrm>
            <a:off x="7493000" y="5359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软件复位数据不丢失，实现 Bootloader 与 App 间高效、安全的状态传递，替代传统 Flash 标志位。</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底层启动机制重构与RTOS集成</a:t>
            </a:r>
            <a:endParaRPr lang="en-US" sz="1100"/>
          </a:p>
        </p:txBody>
      </p:sp>
      <p:sp>
        <p:nvSpPr>
          <p:cNvPr id="4" name="AutoShape 4"/>
          <p:cNvSpPr/>
          <p:nvPr/>
        </p:nvSpPr>
        <p:spPr>
          <a:xfrm>
            <a:off x="762000" y="1397000"/>
            <a:ext cx="5207000" cy="4953000"/>
          </a:xfrm>
          <a:prstGeom prst="roundRect">
            <a:avLst>
              <a:gd name="adj" fmla="val 4102"/>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76400"/>
            <a:ext cx="355600" cy="355600"/>
          </a:xfrm>
          <a:prstGeom prst="rect">
            <a:avLst/>
          </a:prstGeom>
        </p:spPr>
      </p:pic>
      <p:sp>
        <p:nvSpPr>
          <p:cNvPr id="6" name="AutoShape 6"/>
          <p:cNvSpPr/>
          <p:nvPr/>
        </p:nvSpPr>
        <p:spPr>
          <a:xfrm>
            <a:off x="1524000" y="1651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纯C语言启动文件重构</a:t>
            </a:r>
            <a:endParaRPr lang="en-US" sz="1100"/>
          </a:p>
        </p:txBody>
      </p:sp>
      <p:sp>
        <p:nvSpPr>
          <p:cNvPr id="7" name="AutoShape 7"/>
          <p:cNvSpPr/>
          <p:nvPr/>
        </p:nvSpPr>
        <p:spPr>
          <a:xfrm>
            <a:off x="1016000" y="2286000"/>
            <a:ext cx="4699000" cy="1016000"/>
          </a:xfrm>
          <a:prstGeom prst="roundRect">
            <a:avLst>
              <a:gd name="adj" fmla="val 15000"/>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6500" y="24130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0B981"/>
                </a:solidFill>
                <a:latin typeface="Noto Sans SC"/>
                <a:ea typeface="Noto Sans SC"/>
                <a:cs typeface="Noto Sans SC"/>
                <a:sym typeface="Noto Sans SC"/>
              </a:rPr>
              <a:t>背景 Background</a:t>
            </a:r>
            <a:endParaRPr lang="en-US" sz="1100"/>
          </a:p>
        </p:txBody>
      </p:sp>
      <p:sp>
        <p:nvSpPr>
          <p:cNvPr id="9" name="AutoShape 9"/>
          <p:cNvSpPr/>
          <p:nvPr/>
        </p:nvSpPr>
        <p:spPr>
          <a:xfrm>
            <a:off x="1206500" y="2794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a:ea typeface="Noto Sans SC"/>
                <a:cs typeface="Noto Sans SC"/>
                <a:sym typeface="Noto Sans SC"/>
              </a:rPr>
              <a:t>彻底摒弃晦涩难懂、高耦合的传统汇编启动文件，使用C语言实现底层的统一封装与管理。</a:t>
            </a:r>
            <a:endParaRPr lang="en-US" sz="1100"/>
          </a:p>
        </p:txBody>
      </p:sp>
      <p:sp>
        <p:nvSpPr>
          <p:cNvPr id="10" name="AutoShape 10"/>
          <p:cNvSpPr/>
          <p:nvPr/>
        </p:nvSpPr>
        <p:spPr>
          <a:xfrm>
            <a:off x="1016000" y="3492500"/>
            <a:ext cx="4699000" cy="1397000"/>
          </a:xfrm>
          <a:prstGeom prst="roundRect">
            <a:avLst>
              <a:gd name="adj" fmla="val 10909"/>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206500" y="3619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核心实现 Implementation</a:t>
            </a:r>
            <a:endParaRPr lang="en-US" sz="1100"/>
          </a:p>
        </p:txBody>
      </p:sp>
      <p:sp>
        <p:nvSpPr>
          <p:cNvPr id="12" name="AutoShape 12"/>
          <p:cNvSpPr/>
          <p:nvPr/>
        </p:nvSpPr>
        <p:spPr>
          <a:xfrm>
            <a:off x="1206500" y="4000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Noto Sans SC"/>
                <a:ea typeface="Noto Sans SC"/>
                <a:cs typeface="Noto Sans SC"/>
                <a:sym typeface="Noto Sans SC"/>
              </a:rPr>
              <a:t>• 极简向量表：仅保留基础结构，入口指向C语言reset_handler。</a:t>
            </a:r>
            <a:br>
              <a:rPr lang="en-US" sz="1100" b="0" i="0" u="none" strike="noStrike">
                <a:solidFill>
                  <a:srgbClr val="6B7280"/>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硬件预初始化：提前配置时钟/RAM，缩短启动耗时。</a:t>
            </a:r>
            <a:br>
              <a:rPr lang="en-US" sz="1100" b="0" i="0" u="none" strike="noStrike">
                <a:solidFill>
                  <a:srgbClr val="6B7280"/>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手动构建CRT：利用内存对齐与循环展开优化运行效率。</a:t>
            </a:r>
            <a:endParaRPr lang="en-US" sz="1100"/>
          </a:p>
        </p:txBody>
      </p:sp>
      <p:sp>
        <p:nvSpPr>
          <p:cNvPr id="13" name="AutoShape 13"/>
          <p:cNvSpPr/>
          <p:nvPr/>
        </p:nvSpPr>
        <p:spPr>
          <a:xfrm>
            <a:off x="1016000" y="5080000"/>
            <a:ext cx="4699000" cy="1016000"/>
          </a:xfrm>
          <a:prstGeom prst="roundRect">
            <a:avLst>
              <a:gd name="adj" fmla="val 15000"/>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206500" y="52070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0B981"/>
                </a:solidFill>
                <a:latin typeface="Noto Sans SC"/>
                <a:ea typeface="Noto Sans SC"/>
                <a:cs typeface="Noto Sans SC"/>
                <a:sym typeface="Noto Sans SC"/>
              </a:rPr>
              <a:t>核心优势 Advantage</a:t>
            </a:r>
            <a:endParaRPr lang="en-US" sz="1100"/>
          </a:p>
        </p:txBody>
      </p:sp>
      <p:sp>
        <p:nvSpPr>
          <p:cNvPr id="15" name="AutoShape 15"/>
          <p:cNvSpPr/>
          <p:nvPr/>
        </p:nvSpPr>
        <p:spPr>
          <a:xfrm>
            <a:off x="1206500" y="5588000"/>
            <a:ext cx="4318000" cy="44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a:ea typeface="Noto Sans SC"/>
                <a:cs typeface="Noto Sans SC"/>
                <a:sym typeface="Noto Sans SC"/>
              </a:rPr>
              <a:t>消除汇编语言的移植障碍，大幅提升底层代码的可复用性与跨平台适配效率。</a:t>
            </a:r>
            <a:endParaRPr lang="en-US" sz="1100"/>
          </a:p>
        </p:txBody>
      </p:sp>
      <p:sp>
        <p:nvSpPr>
          <p:cNvPr id="16" name="AutoShape 16"/>
          <p:cNvSpPr/>
          <p:nvPr/>
        </p:nvSpPr>
        <p:spPr>
          <a:xfrm>
            <a:off x="6223000" y="1397000"/>
            <a:ext cx="5207000" cy="4953000"/>
          </a:xfrm>
          <a:prstGeom prst="roundRect">
            <a:avLst>
              <a:gd name="adj" fmla="val 4102"/>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676400"/>
            <a:ext cx="355600" cy="355600"/>
          </a:xfrm>
          <a:prstGeom prst="rect">
            <a:avLst/>
          </a:prstGeom>
        </p:spPr>
      </p:pic>
      <p:sp>
        <p:nvSpPr>
          <p:cNvPr id="18" name="AutoShape 18"/>
          <p:cNvSpPr/>
          <p:nvPr/>
        </p:nvSpPr>
        <p:spPr>
          <a:xfrm>
            <a:off x="6985000" y="1651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RTOS 集成与任务并发调度</a:t>
            </a:r>
            <a:endParaRPr lang="en-US" sz="1100"/>
          </a:p>
        </p:txBody>
      </p:sp>
      <p:sp>
        <p:nvSpPr>
          <p:cNvPr id="19" name="AutoShape 19"/>
          <p:cNvSpPr/>
          <p:nvPr/>
        </p:nvSpPr>
        <p:spPr>
          <a:xfrm>
            <a:off x="6477000" y="2286000"/>
            <a:ext cx="4699000" cy="1016000"/>
          </a:xfrm>
          <a:prstGeom prst="roundRect">
            <a:avLst>
              <a:gd name="adj" fmla="val 15000"/>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67500" y="24130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0B981"/>
                </a:solidFill>
                <a:latin typeface="Noto Sans SC"/>
                <a:ea typeface="Noto Sans SC"/>
                <a:cs typeface="Noto Sans SC"/>
                <a:sym typeface="Noto Sans SC"/>
              </a:rPr>
              <a:t>移植目的 Purpose</a:t>
            </a:r>
            <a:endParaRPr lang="en-US" sz="1100"/>
          </a:p>
        </p:txBody>
      </p:sp>
      <p:sp>
        <p:nvSpPr>
          <p:cNvPr id="21" name="AutoShape 21"/>
          <p:cNvSpPr/>
          <p:nvPr/>
        </p:nvSpPr>
        <p:spPr>
          <a:xfrm>
            <a:off x="6667500" y="2794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a:ea typeface="Noto Sans SC"/>
                <a:cs typeface="Noto Sans SC"/>
                <a:sym typeface="Noto Sans SC"/>
              </a:rPr>
              <a:t>解决传统裸机架构下的单线程阻塞问题，引入并发机制，保障升级过程的高实时性与可靠性。</a:t>
            </a:r>
            <a:endParaRPr lang="en-US" sz="1100"/>
          </a:p>
        </p:txBody>
      </p:sp>
      <p:sp>
        <p:nvSpPr>
          <p:cNvPr id="22" name="AutoShape 22"/>
          <p:cNvSpPr/>
          <p:nvPr/>
        </p:nvSpPr>
        <p:spPr>
          <a:xfrm>
            <a:off x="6477000" y="3492500"/>
            <a:ext cx="4699000" cy="1206500"/>
          </a:xfrm>
          <a:prstGeom prst="roundRect">
            <a:avLst>
              <a:gd name="adj" fmla="val 1263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667500" y="3619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轻量化移植 Porting</a:t>
            </a:r>
            <a:endParaRPr lang="en-US" sz="1100"/>
          </a:p>
        </p:txBody>
      </p:sp>
      <p:sp>
        <p:nvSpPr>
          <p:cNvPr id="24" name="AutoShape 24"/>
          <p:cNvSpPr/>
          <p:nvPr/>
        </p:nvSpPr>
        <p:spPr>
          <a:xfrm>
            <a:off x="6667500" y="4000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Noto Sans SC"/>
                <a:ea typeface="Noto Sans SC"/>
                <a:cs typeface="Noto Sans SC"/>
                <a:sym typeface="Noto Sans SC"/>
              </a:rPr>
              <a:t>• 配置SysTick定时器作为系统时基。</a:t>
            </a:r>
            <a:br>
              <a:rPr lang="en-US" sz="1100" b="0" i="0" u="none" strike="noStrike">
                <a:solidFill>
                  <a:srgbClr val="6B7280"/>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深度裁剪 RT-Thread Nano，仅保留核心IPC与调度机制。</a:t>
            </a:r>
            <a:endParaRPr lang="en-US" sz="1100"/>
          </a:p>
        </p:txBody>
      </p:sp>
      <p:sp>
        <p:nvSpPr>
          <p:cNvPr id="25" name="AutoShape 25"/>
          <p:cNvSpPr/>
          <p:nvPr/>
        </p:nvSpPr>
        <p:spPr>
          <a:xfrm>
            <a:off x="6477000" y="4889500"/>
            <a:ext cx="4699000" cy="1143000"/>
          </a:xfrm>
          <a:prstGeom prst="roundRect">
            <a:avLst>
              <a:gd name="adj" fmla="val 13333"/>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67500" y="5016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0B981"/>
                </a:solidFill>
                <a:latin typeface="Noto Sans SC"/>
                <a:ea typeface="Noto Sans SC"/>
                <a:cs typeface="Noto Sans SC"/>
                <a:sym typeface="Noto Sans SC"/>
              </a:rPr>
              <a:t>任务应用 Application</a:t>
            </a:r>
            <a:endParaRPr lang="en-US" sz="1100"/>
          </a:p>
        </p:txBody>
      </p:sp>
      <p:sp>
        <p:nvSpPr>
          <p:cNvPr id="27" name="AutoShape 27"/>
          <p:cNvSpPr/>
          <p:nvPr/>
        </p:nvSpPr>
        <p:spPr>
          <a:xfrm>
            <a:off x="6667500" y="5397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a:ea typeface="Noto Sans SC"/>
                <a:cs typeface="Noto Sans SC"/>
                <a:sym typeface="Noto Sans SC"/>
              </a:rPr>
              <a:t>将Ymodem接收、差分还原、CPU监控等任务解耦为独立线程，利用信号量与调度器实现有序协同。</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可靠传输与差分升级：Ymodem与detools的实现</a:t>
            </a:r>
            <a:endParaRPr lang="en-US" sz="1100"/>
          </a:p>
        </p:txBody>
      </p:sp>
      <p:sp>
        <p:nvSpPr>
          <p:cNvPr id="4" name="AutoShape 4"/>
          <p:cNvSpPr/>
          <p:nvPr/>
        </p:nvSpPr>
        <p:spPr>
          <a:xfrm>
            <a:off x="762000" y="1397000"/>
            <a:ext cx="5207000" cy="4826000"/>
          </a:xfrm>
          <a:prstGeom prst="roundRect">
            <a:avLst>
              <a:gd name="adj" fmla="val 4210"/>
            </a:avLst>
          </a:prstGeom>
          <a:solidFill>
            <a:srgbClr val="FFFFFF">
              <a:alpha val="92000"/>
            </a:srgbClr>
          </a:solidFill>
          <a:ln w="25400" cap="flat" cmpd="sng">
            <a:noFill/>
            <a:prstDash val="solid"/>
            <a:round/>
          </a:ln>
          <a:effectLst>
            <a:outerShdw blurRad="254000" dist="762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795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Ymodem 协议与智能解析</a:t>
            </a:r>
            <a:endParaRPr lang="en-US" sz="1100"/>
          </a:p>
        </p:txBody>
      </p:sp>
      <p:sp>
        <p:nvSpPr>
          <p:cNvPr id="6" name="AutoShape 6"/>
          <p:cNvSpPr/>
          <p:nvPr/>
        </p:nvSpPr>
        <p:spPr>
          <a:xfrm>
            <a:off x="1079500" y="2159000"/>
            <a:ext cx="508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2540000"/>
            <a:ext cx="4572000" cy="1397000"/>
          </a:xfrm>
          <a:prstGeom prst="roundRect">
            <a:avLst>
              <a:gd name="adj" fmla="val 10909"/>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794000"/>
            <a:ext cx="609600" cy="609600"/>
          </a:xfrm>
          <a:prstGeom prst="rect">
            <a:avLst/>
          </a:prstGeom>
        </p:spPr>
      </p:pic>
      <p:sp>
        <p:nvSpPr>
          <p:cNvPr id="9" name="AutoShape 9"/>
          <p:cNvSpPr/>
          <p:nvPr/>
        </p:nvSpPr>
        <p:spPr>
          <a:xfrm>
            <a:off x="2032000" y="2730500"/>
            <a:ext cx="330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可靠传输机制</a:t>
            </a:r>
            <a:endParaRPr lang="en-US" sz="1100"/>
          </a:p>
        </p:txBody>
      </p:sp>
      <p:sp>
        <p:nvSpPr>
          <p:cNvPr id="10" name="AutoShape 10"/>
          <p:cNvSpPr/>
          <p:nvPr/>
        </p:nvSpPr>
        <p:spPr>
          <a:xfrm>
            <a:off x="2032000" y="3175000"/>
            <a:ext cx="3302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实现Ymodem协议状态机，集成数据包校验与自动重传机制，在弱网或干扰环境下确保固件传输的100%完整性。</a:t>
            </a:r>
            <a:endParaRPr lang="en-US" sz="1100"/>
          </a:p>
        </p:txBody>
      </p:sp>
      <p:sp>
        <p:nvSpPr>
          <p:cNvPr id="11" name="AutoShape 11"/>
          <p:cNvSpPr/>
          <p:nvPr/>
        </p:nvSpPr>
        <p:spPr>
          <a:xfrm>
            <a:off x="1079500" y="4191000"/>
            <a:ext cx="4572000" cy="1397000"/>
          </a:xfrm>
          <a:prstGeom prst="roundRect">
            <a:avLst>
              <a:gd name="adj" fmla="val 10909"/>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0000" y="4445000"/>
            <a:ext cx="609600" cy="609600"/>
          </a:xfrm>
          <a:prstGeom prst="rect">
            <a:avLst/>
          </a:prstGeom>
        </p:spPr>
      </p:pic>
      <p:sp>
        <p:nvSpPr>
          <p:cNvPr id="13" name="AutoShape 13"/>
          <p:cNvSpPr/>
          <p:nvPr/>
        </p:nvSpPr>
        <p:spPr>
          <a:xfrm>
            <a:off x="2032000" y="4381500"/>
            <a:ext cx="330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智能分包路由</a:t>
            </a:r>
            <a:endParaRPr lang="en-US" sz="1100"/>
          </a:p>
        </p:txBody>
      </p:sp>
      <p:sp>
        <p:nvSpPr>
          <p:cNvPr id="14" name="AutoShape 14"/>
          <p:cNvSpPr/>
          <p:nvPr/>
        </p:nvSpPr>
        <p:spPr>
          <a:xfrm>
            <a:off x="2032000" y="4826000"/>
            <a:ext cx="3302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基于文件首包特征智能解析，通过后缀(.bin/.patch)自动判别全量固件或差分包，并动态路由至对应的烧写处理流程。</a:t>
            </a:r>
            <a:endParaRPr lang="en-US" sz="1100"/>
          </a:p>
        </p:txBody>
      </p:sp>
      <p:sp>
        <p:nvSpPr>
          <p:cNvPr id="15" name="AutoShape 15"/>
          <p:cNvSpPr/>
          <p:nvPr/>
        </p:nvSpPr>
        <p:spPr>
          <a:xfrm>
            <a:off x="6223000" y="1397000"/>
            <a:ext cx="5207000" cy="4826000"/>
          </a:xfrm>
          <a:prstGeom prst="roundRect">
            <a:avLst>
              <a:gd name="adj" fmla="val 4210"/>
            </a:avLst>
          </a:prstGeom>
          <a:solidFill>
            <a:srgbClr val="FFFFFF">
              <a:alpha val="92000"/>
            </a:srgbClr>
          </a:solidFill>
          <a:ln w="25400" cap="flat" cmpd="sng">
            <a:noFill/>
            <a:prstDash val="solid"/>
            <a:round/>
          </a:ln>
          <a:effectLst>
            <a:outerShdw blurRad="254000" dist="762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65405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detools 差分还原算法</a:t>
            </a:r>
            <a:endParaRPr lang="en-US" sz="1100"/>
          </a:p>
        </p:txBody>
      </p:sp>
      <p:sp>
        <p:nvSpPr>
          <p:cNvPr id="17" name="AutoShape 17"/>
          <p:cNvSpPr/>
          <p:nvPr/>
        </p:nvSpPr>
        <p:spPr>
          <a:xfrm>
            <a:off x="6540500" y="2159000"/>
            <a:ext cx="508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540500" y="2540000"/>
            <a:ext cx="4572000" cy="1079500"/>
          </a:xfrm>
          <a:prstGeom prst="roundRect">
            <a:avLst>
              <a:gd name="adj" fmla="val 14117"/>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2794000"/>
            <a:ext cx="508000" cy="508000"/>
          </a:xfrm>
          <a:prstGeom prst="rect">
            <a:avLst/>
          </a:prstGeom>
        </p:spPr>
      </p:pic>
      <p:sp>
        <p:nvSpPr>
          <p:cNvPr id="20" name="AutoShape 20"/>
          <p:cNvSpPr/>
          <p:nvPr/>
        </p:nvSpPr>
        <p:spPr>
          <a:xfrm>
            <a:off x="7493000" y="2692400"/>
            <a:ext cx="336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差分还原原理</a:t>
            </a:r>
            <a:endParaRPr lang="en-US" sz="1100"/>
          </a:p>
        </p:txBody>
      </p:sp>
      <p:sp>
        <p:nvSpPr>
          <p:cNvPr id="21" name="AutoShape 21"/>
          <p:cNvSpPr/>
          <p:nvPr/>
        </p:nvSpPr>
        <p:spPr>
          <a:xfrm>
            <a:off x="7493000" y="3073400"/>
            <a:ext cx="33655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PC端对比新旧固件生成极小差分包，设备端接收后在本地高效还原，大幅降低OTA流量消耗。</a:t>
            </a:r>
            <a:endParaRPr lang="en-US" sz="1100"/>
          </a:p>
        </p:txBody>
      </p:sp>
      <p:sp>
        <p:nvSpPr>
          <p:cNvPr id="22" name="AutoShape 22"/>
          <p:cNvSpPr/>
          <p:nvPr/>
        </p:nvSpPr>
        <p:spPr>
          <a:xfrm>
            <a:off x="6540500" y="3746500"/>
            <a:ext cx="4572000" cy="1079500"/>
          </a:xfrm>
          <a:prstGeom prst="roundRect">
            <a:avLst>
              <a:gd name="adj" fmla="val 14117"/>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0" y="4000500"/>
            <a:ext cx="508000" cy="508000"/>
          </a:xfrm>
          <a:prstGeom prst="rect">
            <a:avLst/>
          </a:prstGeom>
        </p:spPr>
      </p:pic>
      <p:sp>
        <p:nvSpPr>
          <p:cNvPr id="24" name="AutoShape 24"/>
          <p:cNvSpPr/>
          <p:nvPr/>
        </p:nvSpPr>
        <p:spPr>
          <a:xfrm>
            <a:off x="7493000" y="3898900"/>
            <a:ext cx="336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流式流水线处理 (Streaming I/O)</a:t>
            </a:r>
            <a:endParaRPr lang="en-US" sz="1100"/>
          </a:p>
        </p:txBody>
      </p:sp>
      <p:sp>
        <p:nvSpPr>
          <p:cNvPr id="25" name="AutoShape 25"/>
          <p:cNvSpPr/>
          <p:nvPr/>
        </p:nvSpPr>
        <p:spPr>
          <a:xfrm>
            <a:off x="7493000" y="4279900"/>
            <a:ext cx="33655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无需加载完整固件至内存，实现“边读取、边解压、边写入Flash”的流水线操作，节省大量RAM资源。</a:t>
            </a:r>
            <a:endParaRPr lang="en-US" sz="1100"/>
          </a:p>
        </p:txBody>
      </p:sp>
      <p:sp>
        <p:nvSpPr>
          <p:cNvPr id="26" name="AutoShape 26"/>
          <p:cNvSpPr/>
          <p:nvPr/>
        </p:nvSpPr>
        <p:spPr>
          <a:xfrm>
            <a:off x="6540500" y="4953000"/>
            <a:ext cx="4572000" cy="1016000"/>
          </a:xfrm>
          <a:prstGeom prst="roundRect">
            <a:avLst>
              <a:gd name="adj" fmla="val 15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5207000"/>
            <a:ext cx="508000" cy="508000"/>
          </a:xfrm>
          <a:prstGeom prst="rect">
            <a:avLst/>
          </a:prstGeom>
        </p:spPr>
      </p:pic>
      <p:sp>
        <p:nvSpPr>
          <p:cNvPr id="28" name="AutoShape 28"/>
          <p:cNvSpPr/>
          <p:nvPr/>
        </p:nvSpPr>
        <p:spPr>
          <a:xfrm>
            <a:off x="7493000" y="5143500"/>
            <a:ext cx="336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突破单片机内存瓶颈</a:t>
            </a:r>
            <a:endParaRPr lang="en-US" sz="1100"/>
          </a:p>
        </p:txBody>
      </p:sp>
      <p:sp>
        <p:nvSpPr>
          <p:cNvPr id="29" name="AutoShape 29"/>
          <p:cNvSpPr/>
          <p:nvPr/>
        </p:nvSpPr>
        <p:spPr>
          <a:xfrm>
            <a:off x="7493000" y="5524500"/>
            <a:ext cx="3365500" cy="38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ECFDF5"/>
                </a:solidFill>
                <a:latin typeface="Noto Sans SC"/>
                <a:ea typeface="Noto Sans SC"/>
                <a:cs typeface="Noto Sans SC"/>
                <a:sym typeface="Noto Sans SC"/>
              </a:rPr>
              <a:t>彻底解决了传统差分算法在MCU端因内存不足导致的溢出崩溃问题。</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测试环境与配置</a:t>
            </a:r>
            <a:endParaRPr lang="en-US" sz="1100"/>
          </a:p>
        </p:txBody>
      </p:sp>
      <p:sp>
        <p:nvSpPr>
          <p:cNvPr id="4" name="AutoShape 4"/>
          <p:cNvSpPr/>
          <p:nvPr/>
        </p:nvSpPr>
        <p:spPr>
          <a:xfrm>
            <a:off x="762000" y="1397000"/>
            <a:ext cx="4572000" cy="1524000"/>
          </a:xfrm>
          <a:prstGeom prst="roundRect">
            <a:avLst>
              <a:gd name="adj" fmla="val 10000"/>
            </a:avLst>
          </a:prstGeom>
          <a:solidFill>
            <a:srgbClr val="FFFFFF">
              <a:alpha val="9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711200" cy="711200"/>
          </a:xfrm>
          <a:prstGeom prst="rect">
            <a:avLst/>
          </a:prstGeom>
        </p:spPr>
      </p:pic>
      <p:sp>
        <p:nvSpPr>
          <p:cNvPr id="6" name="AutoShape 6"/>
          <p:cNvSpPr/>
          <p:nvPr/>
        </p:nvSpPr>
        <p:spPr>
          <a:xfrm>
            <a:off x="2032000" y="1550416"/>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0B981"/>
                </a:solidFill>
                <a:latin typeface="Noto Sans SC"/>
                <a:ea typeface="Noto Sans SC"/>
                <a:cs typeface="Noto Sans SC"/>
                <a:sym typeface="Noto Sans SC"/>
              </a:rPr>
              <a:t>核心硬件平台</a:t>
            </a:r>
            <a:endParaRPr lang="en-US" sz="1100" dirty="0"/>
          </a:p>
        </p:txBody>
      </p:sp>
      <p:sp>
        <p:nvSpPr>
          <p:cNvPr id="7" name="AutoShape 7"/>
          <p:cNvSpPr/>
          <p:nvPr/>
        </p:nvSpPr>
        <p:spPr>
          <a:xfrm>
            <a:off x="2032000" y="1966976"/>
            <a:ext cx="3125216"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dirty="0">
                <a:solidFill>
                  <a:srgbClr val="4B5563"/>
                </a:solidFill>
                <a:latin typeface="Noto Sans SC"/>
                <a:ea typeface="Noto Sans SC"/>
                <a:cs typeface="Noto Sans SC"/>
                <a:sym typeface="Noto Sans SC"/>
              </a:rPr>
              <a:t>主控芯片：STM32H743IIT6 (Cortex-M7 </a:t>
            </a:r>
            <a:r>
              <a:rPr lang="en-US" sz="1200" b="0" i="0" u="none" strike="noStrike" dirty="0" err="1">
                <a:solidFill>
                  <a:srgbClr val="4B5563"/>
                </a:solidFill>
                <a:latin typeface="Noto Sans SC"/>
                <a:ea typeface="Noto Sans SC"/>
                <a:cs typeface="Noto Sans SC"/>
                <a:sym typeface="Noto Sans SC"/>
              </a:rPr>
              <a:t>高性能内核</a:t>
            </a:r>
            <a:r>
              <a:rPr lang="en-US" sz="1200" b="0" i="0" u="none" strike="noStrike" dirty="0">
                <a:solidFill>
                  <a:srgbClr val="4B5563"/>
                </a:solidFill>
                <a:latin typeface="Noto Sans SC"/>
                <a:ea typeface="Noto Sans SC"/>
                <a:cs typeface="Noto Sans SC"/>
                <a:sym typeface="Noto Sans SC"/>
              </a:rPr>
              <a:t>)</a:t>
            </a:r>
            <a:br>
              <a:rPr lang="en-US" sz="1200" b="0" i="0" u="none" strike="noStrike" dirty="0">
                <a:solidFill>
                  <a:srgbClr val="4B5563"/>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资源配置：2MB Flash </a:t>
            </a:r>
            <a:r>
              <a:rPr lang="en-US" sz="1200" b="0" i="0" u="none" strike="noStrike" dirty="0" err="1">
                <a:solidFill>
                  <a:srgbClr val="4B5563"/>
                </a:solidFill>
                <a:latin typeface="Noto Sans SC"/>
                <a:ea typeface="Noto Sans SC"/>
                <a:cs typeface="Noto Sans SC"/>
                <a:sym typeface="Noto Sans SC"/>
              </a:rPr>
              <a:t>高速闪存</a:t>
            </a:r>
            <a:r>
              <a:rPr lang="en-US" sz="1200" b="0" i="0" u="none" strike="noStrike" dirty="0">
                <a:solidFill>
                  <a:srgbClr val="4B5563"/>
                </a:solidFill>
                <a:latin typeface="Noto Sans SC"/>
                <a:ea typeface="Noto Sans SC"/>
                <a:cs typeface="Noto Sans SC"/>
                <a:sym typeface="Noto Sans SC"/>
              </a:rPr>
              <a:t> / 1MB RAM </a:t>
            </a:r>
            <a:r>
              <a:rPr lang="en-US" sz="1200" b="0" i="0" u="none" strike="noStrike" dirty="0" err="1">
                <a:solidFill>
                  <a:srgbClr val="4B5563"/>
                </a:solidFill>
                <a:latin typeface="Noto Sans SC"/>
                <a:ea typeface="Noto Sans SC"/>
                <a:cs typeface="Noto Sans SC"/>
                <a:sym typeface="Noto Sans SC"/>
              </a:rPr>
              <a:t>运行内存</a:t>
            </a:r>
            <a:endParaRPr lang="en-US" sz="1100" dirty="0"/>
          </a:p>
        </p:txBody>
      </p:sp>
      <p:sp>
        <p:nvSpPr>
          <p:cNvPr id="8" name="AutoShape 8"/>
          <p:cNvSpPr/>
          <p:nvPr/>
        </p:nvSpPr>
        <p:spPr>
          <a:xfrm>
            <a:off x="762000" y="3175000"/>
            <a:ext cx="4572000" cy="1397000"/>
          </a:xfrm>
          <a:prstGeom prst="roundRect">
            <a:avLst>
              <a:gd name="adj" fmla="val 10909"/>
            </a:avLst>
          </a:prstGeom>
          <a:solidFill>
            <a:srgbClr val="FFFFFF">
              <a:alpha val="9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92500"/>
            <a:ext cx="711200" cy="711200"/>
          </a:xfrm>
          <a:prstGeom prst="rect">
            <a:avLst/>
          </a:prstGeom>
        </p:spPr>
      </p:pic>
      <p:sp>
        <p:nvSpPr>
          <p:cNvPr id="10" name="AutoShape 10"/>
          <p:cNvSpPr/>
          <p:nvPr/>
        </p:nvSpPr>
        <p:spPr>
          <a:xfrm>
            <a:off x="2032000" y="3328416"/>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a:ea typeface="Noto Sans SC"/>
                <a:cs typeface="Noto Sans SC"/>
                <a:sym typeface="Noto Sans SC"/>
              </a:rPr>
              <a:t>软件开发环境</a:t>
            </a:r>
            <a:endParaRPr lang="en-US" sz="1100"/>
          </a:p>
        </p:txBody>
      </p:sp>
      <p:sp>
        <p:nvSpPr>
          <p:cNvPr id="11" name="AutoShape 11"/>
          <p:cNvSpPr/>
          <p:nvPr/>
        </p:nvSpPr>
        <p:spPr>
          <a:xfrm>
            <a:off x="2032000" y="3744976"/>
            <a:ext cx="3125216"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dirty="0" err="1">
                <a:solidFill>
                  <a:srgbClr val="4B5563"/>
                </a:solidFill>
                <a:latin typeface="Noto Sans SC"/>
                <a:ea typeface="Noto Sans SC"/>
                <a:cs typeface="Noto Sans SC"/>
                <a:sym typeface="Noto Sans SC"/>
              </a:rPr>
              <a:t>编译工具链：ARM</a:t>
            </a:r>
            <a:r>
              <a:rPr lang="en-US" sz="1200" b="0" i="0" u="none" strike="noStrike" dirty="0">
                <a:solidFill>
                  <a:srgbClr val="4B5563"/>
                </a:solidFill>
                <a:latin typeface="Noto Sans SC"/>
                <a:ea typeface="Noto Sans SC"/>
                <a:cs typeface="Noto Sans SC"/>
                <a:sym typeface="Noto Sans SC"/>
              </a:rPr>
              <a:t> GCC </a:t>
            </a:r>
            <a:r>
              <a:rPr lang="en-US" sz="1200" b="0" i="0" u="none" strike="noStrike" dirty="0" err="1">
                <a:solidFill>
                  <a:srgbClr val="4B5563"/>
                </a:solidFill>
                <a:latin typeface="Noto Sans SC"/>
                <a:ea typeface="Noto Sans SC"/>
                <a:cs typeface="Noto Sans SC"/>
                <a:sym typeface="Noto Sans SC"/>
              </a:rPr>
              <a:t>交叉编译器</a:t>
            </a:r>
            <a:r>
              <a:rPr lang="en-US" sz="1200" b="0" i="0" u="none" strike="noStrike" dirty="0">
                <a:solidFill>
                  <a:srgbClr val="4B5563"/>
                </a:solidFill>
                <a:latin typeface="Noto Sans SC"/>
                <a:ea typeface="Noto Sans SC"/>
                <a:cs typeface="Noto Sans SC"/>
                <a:sym typeface="Noto Sans SC"/>
              </a:rPr>
              <a:t> (v15.2.1)</a:t>
            </a:r>
            <a:br>
              <a:rPr lang="en-US" sz="1200" b="0" i="0" u="none" strike="noStrike" dirty="0">
                <a:solidFill>
                  <a:srgbClr val="4B5563"/>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IDE </a:t>
            </a:r>
            <a:r>
              <a:rPr lang="en-US" sz="1200" b="0" i="0" u="none" strike="noStrike" dirty="0" err="1">
                <a:solidFill>
                  <a:srgbClr val="4B5563"/>
                </a:solidFill>
                <a:latin typeface="Noto Sans SC"/>
                <a:ea typeface="Noto Sans SC"/>
                <a:cs typeface="Noto Sans SC"/>
                <a:sym typeface="Noto Sans SC"/>
              </a:rPr>
              <a:t>支持：EIDE</a:t>
            </a:r>
            <a:r>
              <a:rPr lang="en-US" sz="1200" b="0" i="0" u="none" strike="noStrike" dirty="0">
                <a:solidFill>
                  <a:srgbClr val="4B5563"/>
                </a:solidFill>
                <a:latin typeface="Noto Sans SC"/>
                <a:ea typeface="Noto Sans SC"/>
                <a:cs typeface="Noto Sans SC"/>
                <a:sym typeface="Noto Sans SC"/>
              </a:rPr>
              <a:t> for </a:t>
            </a:r>
            <a:r>
              <a:rPr lang="en-US" sz="1200" b="0" i="0" u="none" strike="noStrike" dirty="0" err="1">
                <a:solidFill>
                  <a:srgbClr val="4B5563"/>
                </a:solidFill>
                <a:latin typeface="Noto Sans SC"/>
                <a:ea typeface="Noto Sans SC"/>
                <a:cs typeface="Noto Sans SC"/>
                <a:sym typeface="Noto Sans SC"/>
              </a:rPr>
              <a:t>VSCode</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工程管理与调试</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12" name="AutoShape 12"/>
          <p:cNvSpPr/>
          <p:nvPr/>
        </p:nvSpPr>
        <p:spPr>
          <a:xfrm>
            <a:off x="762000" y="4826000"/>
            <a:ext cx="4572000" cy="1524000"/>
          </a:xfrm>
          <a:prstGeom prst="roundRect">
            <a:avLst>
              <a:gd name="adj" fmla="val 10000"/>
            </a:avLst>
          </a:prstGeom>
          <a:solidFill>
            <a:srgbClr val="FFFFFF">
              <a:alpha val="9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143500"/>
            <a:ext cx="711200" cy="711200"/>
          </a:xfrm>
          <a:prstGeom prst="rect">
            <a:avLst/>
          </a:prstGeom>
        </p:spPr>
      </p:pic>
      <p:sp>
        <p:nvSpPr>
          <p:cNvPr id="14" name="AutoShape 14"/>
          <p:cNvSpPr/>
          <p:nvPr/>
        </p:nvSpPr>
        <p:spPr>
          <a:xfrm>
            <a:off x="2032000" y="4979416"/>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a:ea typeface="Noto Sans SC"/>
                <a:cs typeface="Noto Sans SC"/>
                <a:sym typeface="Noto Sans SC"/>
              </a:rPr>
              <a:t>关键测试工具</a:t>
            </a:r>
            <a:endParaRPr lang="en-US" sz="1100"/>
          </a:p>
        </p:txBody>
      </p:sp>
      <p:sp>
        <p:nvSpPr>
          <p:cNvPr id="15" name="AutoShape 15"/>
          <p:cNvSpPr/>
          <p:nvPr/>
        </p:nvSpPr>
        <p:spPr>
          <a:xfrm>
            <a:off x="2032000" y="5395976"/>
            <a:ext cx="3125216"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dirty="0">
                <a:solidFill>
                  <a:srgbClr val="4B5563"/>
                </a:solidFill>
                <a:latin typeface="Noto Sans SC"/>
                <a:ea typeface="Noto Sans SC"/>
                <a:cs typeface="Noto Sans SC"/>
                <a:sym typeface="Noto Sans SC"/>
              </a:rPr>
              <a:t>• </a:t>
            </a:r>
            <a:r>
              <a:rPr lang="en-US" altLang="zh-CN" sz="1200" b="0" i="0" u="none" strike="noStrike" dirty="0">
                <a:solidFill>
                  <a:srgbClr val="4B5563"/>
                </a:solidFill>
                <a:latin typeface="Noto Sans SC"/>
                <a:ea typeface="Noto Sans SC"/>
                <a:cs typeface="Noto Sans SC"/>
                <a:sym typeface="Noto Sans SC"/>
              </a:rPr>
              <a:t>Tera Term </a:t>
            </a:r>
            <a:r>
              <a:rPr lang="en-US" sz="1200" b="0" i="0" u="none" strike="noStrike" dirty="0">
                <a:solidFill>
                  <a:srgbClr val="4B5563"/>
                </a:solidFill>
                <a:latin typeface="Noto Sans SC"/>
                <a:ea typeface="Noto Sans SC"/>
                <a:cs typeface="Noto Sans SC"/>
                <a:sym typeface="Noto Sans SC"/>
              </a:rPr>
              <a:t>：</a:t>
            </a:r>
            <a:r>
              <a:rPr lang="en-US" sz="1200" b="0" i="0" u="none" strike="noStrike" dirty="0" err="1">
                <a:solidFill>
                  <a:srgbClr val="4B5563"/>
                </a:solidFill>
                <a:latin typeface="Noto Sans SC"/>
                <a:ea typeface="Noto Sans SC"/>
                <a:cs typeface="Noto Sans SC"/>
                <a:sym typeface="Noto Sans SC"/>
              </a:rPr>
              <a:t>基于</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Ymodem</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协议实现固件下载与监控</a:t>
            </a:r>
            <a:br>
              <a:rPr lang="en-US" sz="1200" b="0" i="0" u="none" strike="noStrike" dirty="0">
                <a:solidFill>
                  <a:srgbClr val="4B5563"/>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 </a:t>
            </a:r>
            <a:r>
              <a:rPr lang="en-US" sz="1200" dirty="0" err="1">
                <a:solidFill>
                  <a:srgbClr val="4B5563"/>
                </a:solidFill>
                <a:latin typeface="Noto Sans SC"/>
                <a:ea typeface="Noto Sans SC"/>
                <a:cs typeface="Noto Sans SC"/>
                <a:sym typeface="Noto Sans SC"/>
              </a:rPr>
              <a:t>MobaXterm</a:t>
            </a:r>
            <a:r>
              <a:rPr lang="en-US" sz="1200" b="0" i="0" u="none" strike="noStrike" dirty="0">
                <a:solidFill>
                  <a:srgbClr val="4B5563"/>
                </a:solidFill>
                <a:latin typeface="Noto Sans SC"/>
                <a:ea typeface="Noto Sans SC"/>
                <a:cs typeface="Noto Sans SC"/>
                <a:sym typeface="Noto Sans SC"/>
              </a:rPr>
              <a:t>：</a:t>
            </a:r>
            <a:r>
              <a:rPr lang="zh-CN" altLang="en-US" sz="1200" b="0" i="0" u="none" strike="noStrike" dirty="0">
                <a:solidFill>
                  <a:srgbClr val="4B5563"/>
                </a:solidFill>
                <a:latin typeface="Noto Sans SC"/>
                <a:ea typeface="Noto Sans SC"/>
                <a:cs typeface="Noto Sans SC"/>
                <a:sym typeface="Noto Sans SC"/>
              </a:rPr>
              <a:t>接收串口调试日志</a:t>
            </a:r>
            <a:endParaRPr lang="en-US" sz="1100" dirty="0"/>
          </a:p>
        </p:txBody>
      </p:sp>
      <p:sp>
        <p:nvSpPr>
          <p:cNvPr id="16" name="AutoShape 16"/>
          <p:cNvSpPr/>
          <p:nvPr/>
        </p:nvSpPr>
        <p:spPr>
          <a:xfrm>
            <a:off x="5638800" y="1397000"/>
            <a:ext cx="5791200" cy="4953000"/>
          </a:xfrm>
          <a:prstGeom prst="roundRect">
            <a:avLst>
              <a:gd name="adj" fmla="val 3076"/>
            </a:avLst>
          </a:prstGeom>
          <a:solidFill>
            <a:srgbClr val="FFFFFF">
              <a:alpha val="95000"/>
            </a:srgbClr>
          </a:solidFill>
          <a:ln w="25400" cap="flat" cmpd="sng">
            <a:noFill/>
            <a:prstDash val="solid"/>
            <a:round/>
          </a:ln>
          <a:effectLst>
            <a:outerShdw blurRad="317500" dist="76200" dir="2700000" algn="tl" rotWithShape="0">
              <a:srgbClr val="000000">
                <a:alpha val="12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350000" y="5932424"/>
            <a:ext cx="482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dirty="0">
                <a:solidFill>
                  <a:srgbClr val="6B7280"/>
                </a:solidFill>
                <a:latin typeface="Noto Sans SC"/>
                <a:ea typeface="Noto Sans SC"/>
                <a:cs typeface="Noto Sans SC"/>
                <a:sym typeface="Noto Sans SC"/>
              </a:rPr>
              <a:t>▲ </a:t>
            </a:r>
            <a:r>
              <a:rPr lang="en-US" sz="1200" b="0" i="0" u="none" strike="noStrike" dirty="0" err="1">
                <a:solidFill>
                  <a:srgbClr val="6B7280"/>
                </a:solidFill>
                <a:latin typeface="Noto Sans SC"/>
                <a:ea typeface="Noto Sans SC"/>
                <a:cs typeface="Noto Sans SC"/>
                <a:sym typeface="Noto Sans SC"/>
              </a:rPr>
              <a:t>真实硬件联调测试环境</a:t>
            </a:r>
            <a:endParaRPr lang="en-US" sz="1100" dirty="0"/>
          </a:p>
        </p:txBody>
      </p:sp>
      <p:pic>
        <p:nvPicPr>
          <p:cNvPr id="20" name="图片 19">
            <a:extLst>
              <a:ext uri="{FF2B5EF4-FFF2-40B4-BE49-F238E27FC236}">
                <a16:creationId xmlns:a16="http://schemas.microsoft.com/office/drawing/2014/main" id="{52FCD3C1-8461-6F0C-73F9-00D54453F781}"/>
              </a:ext>
            </a:extLst>
          </p:cNvPr>
          <p:cNvPicPr>
            <a:picLocks noChangeAspect="1"/>
          </p:cNvPicPr>
          <p:nvPr/>
        </p:nvPicPr>
        <p:blipFill>
          <a:blip r:embed="rId7"/>
          <a:stretch>
            <a:fillRect/>
          </a:stretch>
        </p:blipFill>
        <p:spPr>
          <a:xfrm>
            <a:off x="5913326" y="1778000"/>
            <a:ext cx="5242148" cy="39300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性能测试结果：差分升级效率对比</a:t>
            </a:r>
            <a:endParaRPr lang="en-US" sz="1100"/>
          </a:p>
        </p:txBody>
      </p:sp>
      <p:sp>
        <p:nvSpPr>
          <p:cNvPr id="4" name="AutoShape 4"/>
          <p:cNvSpPr/>
          <p:nvPr/>
        </p:nvSpPr>
        <p:spPr>
          <a:xfrm>
            <a:off x="762000" y="1524000"/>
            <a:ext cx="5207000" cy="4572000"/>
          </a:xfrm>
          <a:prstGeom prst="roundRect">
            <a:avLst>
              <a:gd name="adj" fmla="val 4444"/>
            </a:avLst>
          </a:prstGeom>
          <a:solidFill>
            <a:srgbClr val="FFFFFF">
              <a:alpha val="9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235456" y="1841500"/>
            <a:ext cx="4506976"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B5563"/>
                </a:solidFill>
                <a:latin typeface="Noto Sans SC"/>
                <a:ea typeface="Noto Sans SC"/>
                <a:cs typeface="Noto Sans SC"/>
                <a:sym typeface="Noto Sans SC"/>
              </a:rPr>
              <a:t>升级</a:t>
            </a:r>
            <a:r>
              <a:rPr lang="en-US" sz="1800" b="1" dirty="0">
                <a:solidFill>
                  <a:srgbClr val="4B5563"/>
                </a:solidFill>
                <a:latin typeface="Noto Sans SC"/>
                <a:ea typeface="Noto Sans SC"/>
                <a:cs typeface="Noto Sans SC"/>
                <a:sym typeface="Noto Sans SC"/>
              </a:rPr>
              <a:t>44</a:t>
            </a:r>
            <a:r>
              <a:rPr lang="en-US" altLang="zh-CN" sz="1800" b="1" dirty="0">
                <a:solidFill>
                  <a:srgbClr val="4B5563"/>
                </a:solidFill>
                <a:latin typeface="Noto Sans SC"/>
                <a:ea typeface="Noto Sans SC"/>
                <a:cs typeface="Noto Sans SC"/>
                <a:sym typeface="Noto Sans SC"/>
              </a:rPr>
              <a:t>KB</a:t>
            </a:r>
            <a:r>
              <a:rPr lang="en-US" sz="1800" b="1" i="0" u="none" strike="noStrike" dirty="0">
                <a:solidFill>
                  <a:srgbClr val="4B5563"/>
                </a:solidFill>
                <a:latin typeface="Noto Sans SC"/>
                <a:ea typeface="Noto Sans SC"/>
                <a:cs typeface="Noto Sans SC"/>
                <a:sym typeface="Noto Sans SC"/>
              </a:rPr>
              <a:t>固件</a:t>
            </a:r>
            <a:r>
              <a:rPr lang="zh-CN" altLang="en-US" sz="1800" b="1" i="0" u="none" strike="noStrike" dirty="0">
                <a:solidFill>
                  <a:srgbClr val="4B5563"/>
                </a:solidFill>
                <a:latin typeface="Noto Sans SC"/>
                <a:ea typeface="Noto Sans SC"/>
                <a:cs typeface="Noto Sans SC"/>
                <a:sym typeface="Noto Sans SC"/>
              </a:rPr>
              <a:t>整体</a:t>
            </a:r>
            <a:r>
              <a:rPr lang="en-US" sz="1800" b="1" i="0" u="none" strike="noStrike" dirty="0" err="1">
                <a:solidFill>
                  <a:srgbClr val="4B5563"/>
                </a:solidFill>
                <a:latin typeface="Noto Sans SC"/>
                <a:ea typeface="Noto Sans SC"/>
                <a:cs typeface="Noto Sans SC"/>
                <a:sym typeface="Noto Sans SC"/>
              </a:rPr>
              <a:t>耗时对比</a:t>
            </a:r>
            <a:r>
              <a:rPr lang="zh-CN" altLang="en-US" sz="1800" b="1" dirty="0">
                <a:solidFill>
                  <a:srgbClr val="4B5563"/>
                </a:solidFill>
                <a:latin typeface="Noto Sans SC"/>
                <a:ea typeface="Noto Sans SC"/>
                <a:cs typeface="Noto Sans SC"/>
                <a:sym typeface="Noto Sans SC"/>
              </a:rPr>
              <a:t>（传输</a:t>
            </a:r>
            <a:r>
              <a:rPr lang="en-US" altLang="zh-CN" sz="1800" b="1" dirty="0">
                <a:solidFill>
                  <a:srgbClr val="4B5563"/>
                </a:solidFill>
                <a:latin typeface="Noto Sans SC"/>
                <a:ea typeface="Noto Sans SC"/>
                <a:cs typeface="Noto Sans SC"/>
                <a:sym typeface="Noto Sans SC"/>
              </a:rPr>
              <a:t>+</a:t>
            </a:r>
            <a:r>
              <a:rPr lang="zh-CN" altLang="en-US" sz="1800" b="1" dirty="0">
                <a:solidFill>
                  <a:srgbClr val="4B5563"/>
                </a:solidFill>
                <a:latin typeface="Noto Sans SC"/>
                <a:ea typeface="Noto Sans SC"/>
                <a:cs typeface="Noto Sans SC"/>
                <a:sym typeface="Noto Sans SC"/>
              </a:rPr>
              <a:t>还原）</a:t>
            </a:r>
            <a:endParaRPr lang="en-US" sz="1100" dirty="0"/>
          </a:p>
        </p:txBody>
      </p:sp>
      <p:sp>
        <p:nvSpPr>
          <p:cNvPr id="6" name="AutoShape 6"/>
          <p:cNvSpPr/>
          <p:nvPr/>
        </p:nvSpPr>
        <p:spPr>
          <a:xfrm>
            <a:off x="1143000" y="2401824"/>
            <a:ext cx="152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err="1">
                <a:solidFill>
                  <a:srgbClr val="6B7280"/>
                </a:solidFill>
                <a:latin typeface="Noto Sans SC"/>
                <a:ea typeface="Noto Sans SC"/>
                <a:cs typeface="Noto Sans SC"/>
                <a:sym typeface="Noto Sans SC"/>
              </a:rPr>
              <a:t>传统全量升级</a:t>
            </a:r>
            <a:endParaRPr lang="en-US" sz="1100" dirty="0"/>
          </a:p>
        </p:txBody>
      </p:sp>
      <p:sp>
        <p:nvSpPr>
          <p:cNvPr id="7" name="AutoShape 7"/>
          <p:cNvSpPr/>
          <p:nvPr/>
        </p:nvSpPr>
        <p:spPr>
          <a:xfrm>
            <a:off x="1270000" y="2940812"/>
            <a:ext cx="1270000" cy="2413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70000" y="2940812"/>
            <a:ext cx="1270000" cy="2413000"/>
          </a:xfrm>
          <a:prstGeom prst="roundRect">
            <a:avLst>
              <a:gd name="adj" fmla="val 800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5480812"/>
            <a:ext cx="152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374151"/>
                </a:solidFill>
                <a:latin typeface="Noto Sans SC"/>
                <a:ea typeface="Noto Sans SC"/>
                <a:cs typeface="Noto Sans SC"/>
                <a:sym typeface="Noto Sans SC"/>
              </a:rPr>
              <a:t>5 s</a:t>
            </a:r>
            <a:endParaRPr lang="en-US" sz="1100" dirty="0"/>
          </a:p>
        </p:txBody>
      </p:sp>
      <p:sp>
        <p:nvSpPr>
          <p:cNvPr id="10" name="AutoShape 10"/>
          <p:cNvSpPr/>
          <p:nvPr/>
        </p:nvSpPr>
        <p:spPr>
          <a:xfrm>
            <a:off x="3429000" y="2401824"/>
            <a:ext cx="152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dirty="0" err="1">
                <a:solidFill>
                  <a:srgbClr val="6B7280"/>
                </a:solidFill>
                <a:latin typeface="Noto Sans SC"/>
                <a:ea typeface="Noto Sans SC"/>
                <a:cs typeface="Noto Sans SC"/>
                <a:sym typeface="Noto Sans SC"/>
              </a:rPr>
              <a:t>detools</a:t>
            </a:r>
            <a:r>
              <a:rPr lang="en-US" sz="1400" b="0" i="0" u="none" strike="noStrike" dirty="0" err="1">
                <a:solidFill>
                  <a:srgbClr val="6B7280"/>
                </a:solidFill>
                <a:latin typeface="Noto Sans SC"/>
                <a:ea typeface="Noto Sans SC"/>
                <a:cs typeface="Noto Sans SC"/>
                <a:sym typeface="Noto Sans SC"/>
              </a:rPr>
              <a:t>差分升级</a:t>
            </a:r>
            <a:endParaRPr lang="en-US" sz="1100" dirty="0"/>
          </a:p>
        </p:txBody>
      </p:sp>
      <p:sp>
        <p:nvSpPr>
          <p:cNvPr id="11" name="AutoShape 11"/>
          <p:cNvSpPr/>
          <p:nvPr/>
        </p:nvSpPr>
        <p:spPr>
          <a:xfrm>
            <a:off x="3556000" y="2940812"/>
            <a:ext cx="1270000" cy="2413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56000" y="4846320"/>
            <a:ext cx="1270000" cy="507492"/>
          </a:xfrm>
          <a:prstGeom prst="roundRect">
            <a:avLst>
              <a:gd name="adj" fmla="val 19387"/>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429000" y="5480812"/>
            <a:ext cx="152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dirty="0">
                <a:solidFill>
                  <a:srgbClr val="10B981"/>
                </a:solidFill>
                <a:latin typeface="Noto Sans SC"/>
                <a:ea typeface="Noto Sans SC"/>
                <a:cs typeface="Noto Sans SC"/>
                <a:sym typeface="Noto Sans SC"/>
              </a:rPr>
              <a:t>1</a:t>
            </a:r>
            <a:r>
              <a:rPr lang="en-US" sz="2000" b="1" i="0" u="none" strike="noStrike" dirty="0">
                <a:solidFill>
                  <a:srgbClr val="10B981"/>
                </a:solidFill>
                <a:latin typeface="Noto Sans SC"/>
                <a:ea typeface="Noto Sans SC"/>
                <a:cs typeface="Noto Sans SC"/>
                <a:sym typeface="Noto Sans SC"/>
              </a:rPr>
              <a:t> s</a:t>
            </a:r>
            <a:endParaRPr lang="en-US" sz="1100" dirty="0"/>
          </a:p>
        </p:txBody>
      </p:sp>
      <p:sp>
        <p:nvSpPr>
          <p:cNvPr id="14" name="AutoShape 14"/>
          <p:cNvSpPr/>
          <p:nvPr/>
        </p:nvSpPr>
        <p:spPr>
          <a:xfrm>
            <a:off x="6223000" y="1524000"/>
            <a:ext cx="4953000" cy="4572000"/>
          </a:xfrm>
          <a:prstGeom prst="roundRect">
            <a:avLst>
              <a:gd name="adj" fmla="val 4444"/>
            </a:avLst>
          </a:prstGeom>
          <a:solidFill>
            <a:srgbClr val="FFFFFF">
              <a:alpha val="90000"/>
            </a:srgbClr>
          </a:solidFill>
          <a:ln w="25400" cap="flat" cmpd="sng">
            <a:noFill/>
            <a:prstDash val="solid"/>
            <a:round/>
          </a:ln>
          <a:effectLst>
            <a:outerShdw blurRad="254000" dist="635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905000"/>
            <a:ext cx="609600" cy="609600"/>
          </a:xfrm>
          <a:prstGeom prst="rect">
            <a:avLst/>
          </a:prstGeom>
        </p:spPr>
      </p:pic>
      <p:sp>
        <p:nvSpPr>
          <p:cNvPr id="16" name="AutoShape 16"/>
          <p:cNvSpPr/>
          <p:nvPr/>
        </p:nvSpPr>
        <p:spPr>
          <a:xfrm>
            <a:off x="6604000" y="2667000"/>
            <a:ext cx="4191000" cy="10363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8000" b="1" i="0" u="none" strike="noStrike" dirty="0">
                <a:solidFill>
                  <a:srgbClr val="10B981"/>
                </a:solidFill>
                <a:latin typeface="Noto Sans SC"/>
                <a:ea typeface="Noto Sans SC"/>
                <a:cs typeface="Noto Sans SC"/>
                <a:sym typeface="Noto Sans SC"/>
              </a:rPr>
              <a:t>80%</a:t>
            </a:r>
            <a:endParaRPr lang="en-US" sz="1100" dirty="0"/>
          </a:p>
        </p:txBody>
      </p:sp>
      <p:sp>
        <p:nvSpPr>
          <p:cNvPr id="17" name="AutoShape 17"/>
          <p:cNvSpPr/>
          <p:nvPr/>
        </p:nvSpPr>
        <p:spPr>
          <a:xfrm>
            <a:off x="6604000" y="4054856"/>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F2937"/>
                </a:solidFill>
                <a:latin typeface="Noto Sans SC"/>
                <a:ea typeface="Noto Sans SC"/>
                <a:cs typeface="Noto Sans SC"/>
                <a:sym typeface="Noto Sans SC"/>
              </a:rPr>
              <a:t>传输时间显著缩短</a:t>
            </a:r>
            <a:endParaRPr lang="en-US" sz="1100" dirty="0"/>
          </a:p>
        </p:txBody>
      </p:sp>
      <p:sp>
        <p:nvSpPr>
          <p:cNvPr id="18" name="AutoShape 18"/>
          <p:cNvSpPr/>
          <p:nvPr/>
        </p:nvSpPr>
        <p:spPr>
          <a:xfrm>
            <a:off x="6604000" y="4662424"/>
            <a:ext cx="4191000" cy="600456"/>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a:solidFill>
                  <a:srgbClr val="6B7280"/>
                </a:solidFill>
                <a:latin typeface="Noto Sans SC"/>
                <a:ea typeface="Noto Sans SC"/>
                <a:cs typeface="Noto Sans SC"/>
                <a:sym typeface="Noto Sans SC"/>
              </a:rPr>
              <a:t>在 768KB </a:t>
            </a:r>
            <a:r>
              <a:rPr lang="en-US" sz="1200" b="0" i="0" u="none" strike="noStrike" dirty="0" err="1">
                <a:solidFill>
                  <a:srgbClr val="6B7280"/>
                </a:solidFill>
                <a:latin typeface="Noto Sans SC"/>
                <a:ea typeface="Noto Sans SC"/>
                <a:cs typeface="Noto Sans SC"/>
                <a:sym typeface="Noto Sans SC"/>
              </a:rPr>
              <a:t>固件升级场景下，差分升级方案大幅优于传统全量升级，极大提升了低带宽环境下的作业效率</a:t>
            </a:r>
            <a:r>
              <a:rPr lang="en-US" sz="1200" b="0" i="0" u="none" strike="noStrike" dirty="0">
                <a:solidFill>
                  <a:srgbClr val="6B7280"/>
                </a:solidFill>
                <a:latin typeface="Noto Sans SC"/>
                <a:ea typeface="Noto Sans SC"/>
                <a:cs typeface="Noto Sans SC"/>
                <a:sym typeface="Noto Sans SC"/>
              </a:rPr>
              <a:t>。</a:t>
            </a:r>
            <a:endParaRPr lang="en-US" sz="1100" dirty="0"/>
          </a:p>
        </p:txBody>
      </p:sp>
      <p:sp>
        <p:nvSpPr>
          <p:cNvPr id="19" name="AutoShape 19"/>
          <p:cNvSpPr/>
          <p:nvPr/>
        </p:nvSpPr>
        <p:spPr>
          <a:xfrm>
            <a:off x="6604000" y="5377688"/>
            <a:ext cx="2032000" cy="457200"/>
          </a:xfrm>
          <a:prstGeom prst="roundRect">
            <a:avLst>
              <a:gd name="adj" fmla="val 5000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04000" y="5377688"/>
            <a:ext cx="203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59669"/>
                </a:solidFill>
                <a:latin typeface="Noto Sans SC"/>
                <a:ea typeface="Noto Sans SC"/>
                <a:cs typeface="Noto Sans SC"/>
                <a:sym typeface="Noto Sans SC"/>
              </a:rPr>
              <a:t>性能提升验证通过</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系统资源开销评估</a:t>
            </a:r>
            <a:endParaRPr lang="en-US" sz="1100"/>
          </a:p>
        </p:txBody>
      </p:sp>
      <p:sp>
        <p:nvSpPr>
          <p:cNvPr id="4" name="AutoShape 4"/>
          <p:cNvSpPr/>
          <p:nvPr/>
        </p:nvSpPr>
        <p:spPr>
          <a:xfrm>
            <a:off x="762000" y="1397000"/>
            <a:ext cx="3302000" cy="3048000"/>
          </a:xfrm>
          <a:prstGeom prst="roundRect">
            <a:avLst>
              <a:gd name="adj" fmla="val 5000"/>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08200" y="1778000"/>
            <a:ext cx="609600" cy="609600"/>
          </a:xfrm>
          <a:prstGeom prst="rect">
            <a:avLst/>
          </a:prstGeom>
        </p:spPr>
      </p:pic>
      <p:sp>
        <p:nvSpPr>
          <p:cNvPr id="6" name="AutoShape 6"/>
          <p:cNvSpPr/>
          <p:nvPr/>
        </p:nvSpPr>
        <p:spPr>
          <a:xfrm>
            <a:off x="762000" y="2540000"/>
            <a:ext cx="330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dirty="0">
                <a:solidFill>
                  <a:srgbClr val="10B981"/>
                </a:solidFill>
                <a:latin typeface="Noto Sans SC"/>
                <a:ea typeface="Noto Sans SC"/>
                <a:cs typeface="Noto Sans SC"/>
                <a:sym typeface="Noto Sans SC"/>
              </a:rPr>
              <a:t>44</a:t>
            </a:r>
            <a:r>
              <a:rPr lang="en-US" sz="4000" b="1" i="0" u="none" strike="noStrike" dirty="0">
                <a:solidFill>
                  <a:srgbClr val="10B981"/>
                </a:solidFill>
                <a:latin typeface="Noto Sans SC"/>
                <a:ea typeface="Noto Sans SC"/>
                <a:cs typeface="Noto Sans SC"/>
                <a:sym typeface="Noto Sans SC"/>
              </a:rPr>
              <a:t> KB</a:t>
            </a:r>
            <a:endParaRPr lang="en-US" sz="1100" dirty="0"/>
          </a:p>
        </p:txBody>
      </p:sp>
      <p:sp>
        <p:nvSpPr>
          <p:cNvPr id="7" name="AutoShape 7"/>
          <p:cNvSpPr/>
          <p:nvPr/>
        </p:nvSpPr>
        <p:spPr>
          <a:xfrm>
            <a:off x="762000" y="3302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a:ea typeface="Noto Sans SC"/>
                <a:cs typeface="Noto Sans SC"/>
                <a:sym typeface="Noto Sans SC"/>
              </a:rPr>
              <a:t>Flash 存储空间占用</a:t>
            </a:r>
            <a:endParaRPr lang="en-US" sz="1100"/>
          </a:p>
        </p:txBody>
      </p:sp>
      <p:sp>
        <p:nvSpPr>
          <p:cNvPr id="8" name="AutoShape 8"/>
          <p:cNvSpPr/>
          <p:nvPr/>
        </p:nvSpPr>
        <p:spPr>
          <a:xfrm>
            <a:off x="1016000" y="381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B7280"/>
                </a:solidFill>
                <a:latin typeface="Noto Sans SC"/>
                <a:ea typeface="Noto Sans SC"/>
                <a:cs typeface="Noto Sans SC"/>
                <a:sym typeface="Noto Sans SC"/>
              </a:rPr>
              <a:t>Bootloader 自身代码（含RTOS内核）的总存储占用</a:t>
            </a:r>
            <a:endParaRPr lang="en-US" sz="1100"/>
          </a:p>
        </p:txBody>
      </p:sp>
      <p:sp>
        <p:nvSpPr>
          <p:cNvPr id="9" name="AutoShape 9"/>
          <p:cNvSpPr/>
          <p:nvPr/>
        </p:nvSpPr>
        <p:spPr>
          <a:xfrm>
            <a:off x="4445000" y="1397000"/>
            <a:ext cx="3302000" cy="3048000"/>
          </a:xfrm>
          <a:prstGeom prst="roundRect">
            <a:avLst>
              <a:gd name="adj" fmla="val 5000"/>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778000"/>
            <a:ext cx="609600" cy="609600"/>
          </a:xfrm>
          <a:prstGeom prst="rect">
            <a:avLst/>
          </a:prstGeom>
        </p:spPr>
      </p:pic>
      <p:sp>
        <p:nvSpPr>
          <p:cNvPr id="11" name="AutoShape 11"/>
          <p:cNvSpPr/>
          <p:nvPr/>
        </p:nvSpPr>
        <p:spPr>
          <a:xfrm>
            <a:off x="4445000" y="2540000"/>
            <a:ext cx="330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dirty="0">
                <a:solidFill>
                  <a:srgbClr val="10B981"/>
                </a:solidFill>
                <a:latin typeface="Noto Sans SC"/>
                <a:ea typeface="Noto Sans SC"/>
                <a:cs typeface="Noto Sans SC"/>
                <a:sym typeface="Noto Sans SC"/>
              </a:rPr>
              <a:t>~</a:t>
            </a:r>
            <a:r>
              <a:rPr lang="en-US" sz="4000" b="1" i="0" u="none" strike="noStrike" dirty="0">
                <a:solidFill>
                  <a:srgbClr val="10B981"/>
                </a:solidFill>
                <a:latin typeface="Noto Sans SC"/>
                <a:ea typeface="Noto Sans SC"/>
                <a:cs typeface="Noto Sans SC"/>
                <a:sym typeface="Noto Sans SC"/>
              </a:rPr>
              <a:t>12 KB</a:t>
            </a:r>
            <a:endParaRPr lang="en-US" sz="1100" dirty="0"/>
          </a:p>
        </p:txBody>
      </p:sp>
      <p:sp>
        <p:nvSpPr>
          <p:cNvPr id="12" name="AutoShape 12"/>
          <p:cNvSpPr/>
          <p:nvPr/>
        </p:nvSpPr>
        <p:spPr>
          <a:xfrm>
            <a:off x="4445000" y="3302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a:ea typeface="Noto Sans SC"/>
                <a:cs typeface="Noto Sans SC"/>
                <a:sym typeface="Noto Sans SC"/>
              </a:rPr>
              <a:t>RAM 运行内存占用</a:t>
            </a:r>
            <a:endParaRPr lang="en-US" sz="1100"/>
          </a:p>
        </p:txBody>
      </p:sp>
      <p:sp>
        <p:nvSpPr>
          <p:cNvPr id="13" name="AutoShape 13"/>
          <p:cNvSpPr/>
          <p:nvPr/>
        </p:nvSpPr>
        <p:spPr>
          <a:xfrm>
            <a:off x="4699000" y="381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B7280"/>
                </a:solidFill>
                <a:latin typeface="Noto Sans SC"/>
                <a:ea typeface="Noto Sans SC"/>
                <a:cs typeface="Noto Sans SC"/>
                <a:sym typeface="Noto Sans SC"/>
              </a:rPr>
              <a:t>系统启动及运行过程中，实时操作系统占用的峰值内存</a:t>
            </a:r>
            <a:endParaRPr lang="en-US" sz="1100"/>
          </a:p>
        </p:txBody>
      </p:sp>
      <p:sp>
        <p:nvSpPr>
          <p:cNvPr id="14" name="AutoShape 14"/>
          <p:cNvSpPr/>
          <p:nvPr/>
        </p:nvSpPr>
        <p:spPr>
          <a:xfrm>
            <a:off x="8128000" y="1397000"/>
            <a:ext cx="3302000" cy="3048000"/>
          </a:xfrm>
          <a:prstGeom prst="roundRect">
            <a:avLst>
              <a:gd name="adj" fmla="val 5000"/>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4200" y="1778000"/>
            <a:ext cx="609600" cy="609600"/>
          </a:xfrm>
          <a:prstGeom prst="rect">
            <a:avLst/>
          </a:prstGeom>
        </p:spPr>
      </p:pic>
      <p:sp>
        <p:nvSpPr>
          <p:cNvPr id="16" name="AutoShape 16"/>
          <p:cNvSpPr/>
          <p:nvPr/>
        </p:nvSpPr>
        <p:spPr>
          <a:xfrm>
            <a:off x="8128000" y="2540000"/>
            <a:ext cx="330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dirty="0">
                <a:solidFill>
                  <a:srgbClr val="10B981"/>
                </a:solidFill>
                <a:latin typeface="Noto Sans SC"/>
                <a:ea typeface="Noto Sans SC"/>
                <a:cs typeface="Noto Sans SC"/>
                <a:sym typeface="Noto Sans SC"/>
              </a:rPr>
              <a:t>~10%</a:t>
            </a:r>
            <a:endParaRPr lang="en-US" sz="1100" dirty="0"/>
          </a:p>
        </p:txBody>
      </p:sp>
      <p:sp>
        <p:nvSpPr>
          <p:cNvPr id="17" name="AutoShape 17"/>
          <p:cNvSpPr/>
          <p:nvPr/>
        </p:nvSpPr>
        <p:spPr>
          <a:xfrm>
            <a:off x="8128000" y="3302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151"/>
                </a:solidFill>
                <a:latin typeface="Noto Sans SC"/>
                <a:ea typeface="Noto Sans SC"/>
                <a:cs typeface="Noto Sans SC"/>
                <a:sym typeface="Noto Sans SC"/>
              </a:rPr>
              <a:t>CPU 平均占用率</a:t>
            </a:r>
            <a:endParaRPr lang="en-US" sz="1100"/>
          </a:p>
        </p:txBody>
      </p:sp>
      <p:sp>
        <p:nvSpPr>
          <p:cNvPr id="18" name="AutoShape 18"/>
          <p:cNvSpPr/>
          <p:nvPr/>
        </p:nvSpPr>
        <p:spPr>
          <a:xfrm>
            <a:off x="8382000" y="381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B7280"/>
                </a:solidFill>
                <a:latin typeface="Noto Sans SC"/>
                <a:ea typeface="Noto Sans SC"/>
                <a:cs typeface="Noto Sans SC"/>
                <a:sym typeface="Noto Sans SC"/>
              </a:rPr>
              <a:t>在差分固件包还原为完整镜像过程中的处理器负载均值</a:t>
            </a:r>
            <a:endParaRPr lang="en-US" sz="1100"/>
          </a:p>
        </p:txBody>
      </p:sp>
      <p:sp>
        <p:nvSpPr>
          <p:cNvPr id="19" name="AutoShape 19"/>
          <p:cNvSpPr/>
          <p:nvPr/>
        </p:nvSpPr>
        <p:spPr>
          <a:xfrm>
            <a:off x="762000" y="4826000"/>
            <a:ext cx="10668000" cy="1270000"/>
          </a:xfrm>
          <a:prstGeom prst="roundRect">
            <a:avLst>
              <a:gd name="adj" fmla="val 12000"/>
            </a:avLst>
          </a:prstGeom>
          <a:solidFill>
            <a:srgbClr val="10B981">
              <a:alpha val="1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143000" y="5080000"/>
            <a:ext cx="990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65F46"/>
                </a:solidFill>
                <a:latin typeface="Noto Sans SC"/>
                <a:ea typeface="Noto Sans SC"/>
                <a:cs typeface="Noto Sans SC"/>
                <a:sym typeface="Noto Sans SC"/>
              </a:rPr>
              <a:t>评估结论：</a:t>
            </a:r>
            <a:r>
              <a:rPr lang="en-US" sz="1300" b="0" i="0" u="none" strike="noStrike">
                <a:solidFill>
                  <a:srgbClr val="374151"/>
                </a:solidFill>
                <a:latin typeface="Noto Sans SC"/>
                <a:ea typeface="Noto Sans SC"/>
                <a:cs typeface="Noto Sans SC"/>
                <a:sym typeface="Noto Sans SC"/>
              </a:rPr>
              <a:t>系统资源开销整体处于可控范围内。Flash与RAM的低占用为用户应用程序预留了充足的空间，而较高的CPU占用率则证明了差分还原算法在计算资源利用上的高效性。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全文总结与后续工作展望</a:t>
            </a:r>
            <a:endParaRPr lang="en-US" sz="1100"/>
          </a:p>
        </p:txBody>
      </p:sp>
      <p:sp>
        <p:nvSpPr>
          <p:cNvPr id="4" name="AutoShape 4"/>
          <p:cNvSpPr/>
          <p:nvPr/>
        </p:nvSpPr>
        <p:spPr>
          <a:xfrm>
            <a:off x="762000" y="1397000"/>
            <a:ext cx="5207000" cy="4953000"/>
          </a:xfrm>
          <a:prstGeom prst="roundRect">
            <a:avLst>
              <a:gd name="adj" fmla="val 4102"/>
            </a:avLst>
          </a:prstGeom>
          <a:solidFill>
            <a:srgbClr val="FFFFFF">
              <a:alpha val="92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全文总结</a:t>
            </a:r>
            <a:endParaRPr lang="en-US" sz="1100"/>
          </a:p>
        </p:txBody>
      </p:sp>
      <p:sp>
        <p:nvSpPr>
          <p:cNvPr id="6" name="AutoShape 6"/>
          <p:cNvSpPr/>
          <p:nvPr/>
        </p:nvSpPr>
        <p:spPr>
          <a:xfrm>
            <a:off x="1016000" y="2159000"/>
            <a:ext cx="6096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476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374151"/>
                </a:solidFill>
                <a:latin typeface="Noto Sans SC"/>
                <a:ea typeface="Noto Sans SC"/>
                <a:cs typeface="Noto Sans SC"/>
                <a:sym typeface="Noto Sans SC"/>
              </a:rPr>
              <a:t>成功设计并实现了面向工业机器人的嵌入式系统可靠固件更新架构。通过五大核心技术的深度整合，解决了传统方案的关键痛点。</a:t>
            </a:r>
            <a:endParaRPr lang="en-US" sz="1100"/>
          </a:p>
        </p:txBody>
      </p:sp>
      <p:sp>
        <p:nvSpPr>
          <p:cNvPr id="8" name="AutoShape 8"/>
          <p:cNvSpPr/>
          <p:nvPr/>
        </p:nvSpPr>
        <p:spPr>
          <a:xfrm>
            <a:off x="1016000" y="3429000"/>
            <a:ext cx="4699000" cy="1016000"/>
          </a:xfrm>
          <a:prstGeom prst="roundRect">
            <a:avLst>
              <a:gd name="adj" fmla="val 12500"/>
            </a:avLst>
          </a:prstGeom>
          <a:solidFill>
            <a:srgbClr val="D1FAE5">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3556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065F46"/>
                </a:solidFill>
                <a:latin typeface="Noto Sans SC"/>
                <a:ea typeface="Noto Sans SC"/>
                <a:cs typeface="Noto Sans SC"/>
                <a:sym typeface="Noto Sans SC"/>
              </a:rPr>
              <a:t>核心技术整合：</a:t>
            </a:r>
            <a:r>
              <a:rPr lang="en-US" sz="1200" b="0" i="0" u="none" strike="noStrike">
                <a:solidFill>
                  <a:srgbClr val="047857"/>
                </a:solidFill>
                <a:latin typeface="Noto Sans SC"/>
                <a:ea typeface="Noto Sans SC"/>
                <a:cs typeface="Noto Sans SC"/>
                <a:sym typeface="Noto Sans SC"/>
              </a:rPr>
              <a:t>精细化存储管理 · 纯C底层重构 · RTOS集成 · Ymodem可靠传输 · detools差分升级</a:t>
            </a:r>
            <a:endParaRPr lang="en-US" sz="1100"/>
          </a:p>
        </p:txBody>
      </p:sp>
      <p:sp>
        <p:nvSpPr>
          <p:cNvPr id="10" name="AutoShape 10"/>
          <p:cNvSpPr/>
          <p:nvPr/>
        </p:nvSpPr>
        <p:spPr>
          <a:xfrm>
            <a:off x="1016000" y="4699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374151"/>
                </a:solidFill>
                <a:latin typeface="Noto Sans SC"/>
                <a:ea typeface="Noto Sans SC"/>
                <a:cs typeface="Noto Sans SC"/>
                <a:sym typeface="Noto Sans SC"/>
              </a:rPr>
              <a:t>有效解决了传统方案中</a:t>
            </a:r>
            <a:r>
              <a:rPr lang="en-US" sz="1300" b="1" i="0" u="none" strike="noStrike">
                <a:solidFill>
                  <a:srgbClr val="10B981"/>
                </a:solidFill>
                <a:latin typeface="Noto Sans SC"/>
                <a:ea typeface="Noto Sans SC"/>
                <a:cs typeface="Noto Sans SC"/>
                <a:sym typeface="Noto Sans SC"/>
              </a:rPr>
              <a:t>传输慢、移植难、阻塞卡顿</a:t>
            </a:r>
            <a:r>
              <a:rPr lang="en-US" sz="1300" b="0" i="0" u="none" strike="noStrike">
                <a:solidFill>
                  <a:srgbClr val="374151"/>
                </a:solidFill>
                <a:latin typeface="Noto Sans SC"/>
                <a:ea typeface="Noto Sans SC"/>
                <a:cs typeface="Noto Sans SC"/>
                <a:sym typeface="Noto Sans SC"/>
              </a:rPr>
              <a:t>的问题，显著提升了系统运行的稳定性与升级效率。</a:t>
            </a:r>
            <a:endParaRPr lang="en-US" sz="1100"/>
          </a:p>
        </p:txBody>
      </p:sp>
      <p:sp>
        <p:nvSpPr>
          <p:cNvPr id="11" name="AutoShape 11"/>
          <p:cNvSpPr/>
          <p:nvPr/>
        </p:nvSpPr>
        <p:spPr>
          <a:xfrm>
            <a:off x="1016000" y="55245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具备优异的可移植性与资源利用率，完全适配工业场景需求。</a:t>
            </a:r>
            <a:endParaRPr lang="en-US" sz="1100"/>
          </a:p>
        </p:txBody>
      </p:sp>
      <p:sp>
        <p:nvSpPr>
          <p:cNvPr id="12" name="AutoShape 12"/>
          <p:cNvSpPr/>
          <p:nvPr/>
        </p:nvSpPr>
        <p:spPr>
          <a:xfrm>
            <a:off x="6223000" y="1397000"/>
            <a:ext cx="5207000" cy="4953000"/>
          </a:xfrm>
          <a:prstGeom prst="roundRect">
            <a:avLst>
              <a:gd name="adj" fmla="val 4102"/>
            </a:avLst>
          </a:prstGeom>
          <a:solidFill>
            <a:srgbClr val="FFFFFF">
              <a:alpha val="92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后续工作展望</a:t>
            </a:r>
            <a:endParaRPr lang="en-US" sz="1100"/>
          </a:p>
        </p:txBody>
      </p:sp>
      <p:sp>
        <p:nvSpPr>
          <p:cNvPr id="14" name="AutoShape 14"/>
          <p:cNvSpPr/>
          <p:nvPr/>
        </p:nvSpPr>
        <p:spPr>
          <a:xfrm>
            <a:off x="6477000" y="2159000"/>
            <a:ext cx="6096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2540000"/>
            <a:ext cx="4699000" cy="889000"/>
          </a:xfrm>
          <a:prstGeom prst="roundRect">
            <a:avLst>
              <a:gd name="adj" fmla="val 1428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730500"/>
            <a:ext cx="457200" cy="457200"/>
          </a:xfrm>
          <a:prstGeom prst="rect">
            <a:avLst/>
          </a:prstGeom>
        </p:spPr>
      </p:pic>
      <p:sp>
        <p:nvSpPr>
          <p:cNvPr id="17" name="AutoShape 17"/>
          <p:cNvSpPr/>
          <p:nvPr/>
        </p:nvSpPr>
        <p:spPr>
          <a:xfrm>
            <a:off x="7366000" y="2667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dirty="0">
                <a:solidFill>
                  <a:srgbClr val="1F2937"/>
                </a:solidFill>
                <a:latin typeface="Noto Sans SC"/>
                <a:ea typeface="Noto Sans SC"/>
                <a:cs typeface="Noto Sans SC"/>
                <a:sym typeface="Noto Sans SC"/>
              </a:rPr>
              <a:t>通讯</a:t>
            </a:r>
            <a:r>
              <a:rPr lang="en-US" sz="1400" b="1" i="0" u="none" strike="noStrike" dirty="0" err="1">
                <a:solidFill>
                  <a:srgbClr val="1F2937"/>
                </a:solidFill>
                <a:latin typeface="Noto Sans SC"/>
                <a:ea typeface="Noto Sans SC"/>
                <a:cs typeface="Noto Sans SC"/>
                <a:sym typeface="Noto Sans SC"/>
              </a:rPr>
              <a:t>接口扩展</a:t>
            </a:r>
            <a:endParaRPr lang="en-US" sz="1100" dirty="0"/>
          </a:p>
          <a:p>
            <a:pPr indent="0" algn="l">
              <a:lnSpc>
                <a:spcPct val="125000"/>
              </a:lnSpc>
            </a:pPr>
            <a:r>
              <a:rPr lang="en-US" sz="1200" b="0" i="0" u="none" strike="noStrike" dirty="0" err="1">
                <a:solidFill>
                  <a:srgbClr val="6B7280"/>
                </a:solidFill>
                <a:latin typeface="Noto Sans SC"/>
                <a:ea typeface="Noto Sans SC"/>
                <a:cs typeface="Noto Sans SC"/>
                <a:sym typeface="Noto Sans SC"/>
              </a:rPr>
              <a:t>扩展至以太网</a:t>
            </a:r>
            <a:r>
              <a:rPr lang="en-US" sz="1200" b="0" i="0" u="none" strike="noStrike" dirty="0">
                <a:solidFill>
                  <a:srgbClr val="6B7280"/>
                </a:solidFill>
                <a:latin typeface="Noto Sans SC"/>
                <a:ea typeface="Noto Sans SC"/>
                <a:cs typeface="Noto Sans SC"/>
                <a:sym typeface="Noto Sans SC"/>
              </a:rPr>
              <a:t>/</a:t>
            </a:r>
            <a:r>
              <a:rPr lang="en-US" sz="1200" b="0" i="0" u="none" strike="noStrike" dirty="0" err="1">
                <a:solidFill>
                  <a:srgbClr val="6B7280"/>
                </a:solidFill>
                <a:latin typeface="Noto Sans SC"/>
                <a:ea typeface="Noto Sans SC"/>
                <a:cs typeface="Noto Sans SC"/>
                <a:sym typeface="Noto Sans SC"/>
              </a:rPr>
              <a:t>Wi-Fi，实现无线OTA远程升级</a:t>
            </a:r>
            <a:r>
              <a:rPr lang="en-US" sz="1200" b="0" i="0" u="none" strike="noStrike" dirty="0">
                <a:solidFill>
                  <a:srgbClr val="6B7280"/>
                </a:solidFill>
                <a:latin typeface="Noto Sans SC"/>
                <a:ea typeface="Noto Sans SC"/>
                <a:cs typeface="Noto Sans SC"/>
                <a:sym typeface="Noto Sans SC"/>
              </a:rPr>
              <a:t>。</a:t>
            </a:r>
          </a:p>
        </p:txBody>
      </p:sp>
      <p:sp>
        <p:nvSpPr>
          <p:cNvPr id="18" name="AutoShape 18"/>
          <p:cNvSpPr/>
          <p:nvPr/>
        </p:nvSpPr>
        <p:spPr>
          <a:xfrm>
            <a:off x="6477000" y="3556000"/>
            <a:ext cx="4699000" cy="889000"/>
          </a:xfrm>
          <a:prstGeom prst="roundRect">
            <a:avLst>
              <a:gd name="adj" fmla="val 1428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3746500"/>
            <a:ext cx="457200" cy="457200"/>
          </a:xfrm>
          <a:prstGeom prst="rect">
            <a:avLst/>
          </a:prstGeom>
        </p:spPr>
      </p:pic>
      <p:sp>
        <p:nvSpPr>
          <p:cNvPr id="20" name="AutoShape 20"/>
          <p:cNvSpPr/>
          <p:nvPr/>
        </p:nvSpPr>
        <p:spPr>
          <a:xfrm>
            <a:off x="7366000" y="3683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err="1">
                <a:solidFill>
                  <a:srgbClr val="1F2937"/>
                </a:solidFill>
                <a:latin typeface="Noto Sans SC"/>
                <a:ea typeface="Noto Sans SC"/>
                <a:cs typeface="Noto Sans SC"/>
                <a:sym typeface="Noto Sans SC"/>
              </a:rPr>
              <a:t>加密与安全机制</a:t>
            </a:r>
            <a:endParaRPr lang="en-US" sz="1100" dirty="0"/>
          </a:p>
          <a:p>
            <a:pPr indent="0" algn="l">
              <a:lnSpc>
                <a:spcPct val="125000"/>
              </a:lnSpc>
            </a:pPr>
            <a:r>
              <a:rPr lang="en-US" sz="1200" b="0" i="0" u="none" strike="noStrike" dirty="0" err="1">
                <a:solidFill>
                  <a:srgbClr val="6B7280"/>
                </a:solidFill>
                <a:latin typeface="Noto Sans SC"/>
                <a:ea typeface="Noto Sans SC"/>
                <a:cs typeface="Noto Sans SC"/>
                <a:sym typeface="Noto Sans SC"/>
              </a:rPr>
              <a:t>引入固件签名与AES加密，构建完整的安全防护体系</a:t>
            </a:r>
            <a:r>
              <a:rPr lang="en-US" sz="1200" b="0" i="0" u="none" strike="noStrike" dirty="0">
                <a:solidFill>
                  <a:srgbClr val="6B7280"/>
                </a:solidFill>
                <a:latin typeface="Noto Sans SC"/>
                <a:ea typeface="Noto Sans SC"/>
                <a:cs typeface="Noto Sans SC"/>
                <a:sym typeface="Noto Sans SC"/>
              </a:rPr>
              <a:t>。</a:t>
            </a:r>
          </a:p>
        </p:txBody>
      </p:sp>
      <p:sp>
        <p:nvSpPr>
          <p:cNvPr id="21" name="AutoShape 21"/>
          <p:cNvSpPr/>
          <p:nvPr/>
        </p:nvSpPr>
        <p:spPr>
          <a:xfrm>
            <a:off x="6477000" y="4572000"/>
            <a:ext cx="4699000" cy="889000"/>
          </a:xfrm>
          <a:prstGeom prst="roundRect">
            <a:avLst>
              <a:gd name="adj" fmla="val 1428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4762500"/>
            <a:ext cx="457200" cy="457200"/>
          </a:xfrm>
          <a:prstGeom prst="rect">
            <a:avLst/>
          </a:prstGeom>
        </p:spPr>
      </p:pic>
      <p:sp>
        <p:nvSpPr>
          <p:cNvPr id="23" name="AutoShape 23"/>
          <p:cNvSpPr/>
          <p:nvPr/>
        </p:nvSpPr>
        <p:spPr>
          <a:xfrm>
            <a:off x="7366000" y="4699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图形化上位机工具</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开发PC端可视化软件，支持固件一键下载与状态监控。</a:t>
            </a:r>
          </a:p>
        </p:txBody>
      </p:sp>
      <p:sp>
        <p:nvSpPr>
          <p:cNvPr id="24" name="AutoShape 24"/>
          <p:cNvSpPr/>
          <p:nvPr/>
        </p:nvSpPr>
        <p:spPr>
          <a:xfrm>
            <a:off x="6477000" y="5588000"/>
            <a:ext cx="4699000" cy="635000"/>
          </a:xfrm>
          <a:prstGeom prst="roundRect">
            <a:avLst>
              <a:gd name="adj" fmla="val 20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5715000"/>
            <a:ext cx="381000" cy="381000"/>
          </a:xfrm>
          <a:prstGeom prst="rect">
            <a:avLst/>
          </a:prstGeom>
        </p:spPr>
      </p:pic>
      <p:sp>
        <p:nvSpPr>
          <p:cNvPr id="26" name="AutoShape 26"/>
          <p:cNvSpPr/>
          <p:nvPr/>
        </p:nvSpPr>
        <p:spPr>
          <a:xfrm>
            <a:off x="7366000" y="5689600"/>
            <a:ext cx="3683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1" i="0" u="none" strike="noStrike" dirty="0">
                <a:solidFill>
                  <a:srgbClr val="1F2937"/>
                </a:solidFill>
                <a:latin typeface="Noto Sans SC"/>
                <a:ea typeface="Noto Sans SC"/>
                <a:cs typeface="Noto Sans SC"/>
                <a:sym typeface="Noto Sans SC"/>
              </a:rPr>
              <a:t>防掉电与双区回滚机制</a:t>
            </a:r>
            <a:endParaRPr lang="en-US" altLang="zh-CN" sz="1300" b="1" dirty="0">
              <a:solidFill>
                <a:srgbClr val="1F2937"/>
              </a:solidFill>
              <a:latin typeface="Noto Sans SC"/>
              <a:ea typeface="Noto Sans SC"/>
              <a:cs typeface="Noto Sans SC"/>
              <a:sym typeface="Noto Sans SC"/>
            </a:endParaRPr>
          </a:p>
          <a:p>
            <a:pPr indent="0" algn="l">
              <a:lnSpc>
                <a:spcPct val="125000"/>
              </a:lnSpc>
              <a:defRPr/>
            </a:pPr>
            <a:r>
              <a:rPr lang="zh-CN" altLang="en-US" sz="1200" b="0" i="0" u="none" strike="noStrike" dirty="0">
                <a:solidFill>
                  <a:srgbClr val="6B7280"/>
                </a:solidFill>
                <a:latin typeface="Noto Sans SC"/>
                <a:ea typeface="Noto Sans SC"/>
                <a:cs typeface="Noto Sans SC"/>
                <a:sym typeface="Noto Sans SC"/>
              </a:rPr>
              <a:t>设计完整</a:t>
            </a:r>
            <a:r>
              <a:rPr lang="en-US" altLang="zh-CN" sz="1200" b="0" i="0" u="none" strike="noStrike" dirty="0">
                <a:solidFill>
                  <a:srgbClr val="6B7280"/>
                </a:solidFill>
                <a:latin typeface="Noto Sans SC"/>
                <a:ea typeface="Noto Sans SC"/>
                <a:cs typeface="Noto Sans SC"/>
                <a:sym typeface="Noto Sans SC"/>
              </a:rPr>
              <a:t>A/B</a:t>
            </a:r>
            <a:r>
              <a:rPr lang="zh-CN" altLang="en-US" sz="1200" b="0" i="0" u="none" strike="noStrike" dirty="0">
                <a:solidFill>
                  <a:srgbClr val="6B7280"/>
                </a:solidFill>
                <a:latin typeface="Noto Sans SC"/>
                <a:ea typeface="Noto Sans SC"/>
                <a:cs typeface="Noto Sans SC"/>
                <a:sym typeface="Noto Sans SC"/>
              </a:rPr>
              <a:t>双区乒乓升级策略</a:t>
            </a:r>
            <a:r>
              <a:rPr lang="en-US" sz="1200" b="0" i="0" u="none" strike="noStrike" dirty="0">
                <a:solidFill>
                  <a:srgbClr val="6B7280"/>
                </a:solidFill>
                <a:latin typeface="Noto Sans SC"/>
                <a:ea typeface="Noto Sans SC"/>
                <a:cs typeface="Noto Sans SC"/>
                <a:sym typeface="Noto Sans SC"/>
              </a:rPr>
              <a: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889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10B981"/>
                </a:solidFill>
                <a:latin typeface="Noto Sans SC"/>
                <a:ea typeface="Noto Sans SC"/>
                <a:cs typeface="Noto Sans SC"/>
                <a:sym typeface="Noto Sans SC"/>
              </a:rPr>
              <a:t>致 谢</a:t>
            </a:r>
            <a:endParaRPr lang="en-US" sz="1100"/>
          </a:p>
        </p:txBody>
      </p:sp>
      <p:sp>
        <p:nvSpPr>
          <p:cNvPr id="4" name="AutoShape 4"/>
          <p:cNvSpPr/>
          <p:nvPr/>
        </p:nvSpPr>
        <p:spPr>
          <a:xfrm>
            <a:off x="0" y="203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B7280"/>
                </a:solidFill>
                <a:latin typeface="Noto Sans SC"/>
                <a:ea typeface="Noto Sans SC"/>
                <a:cs typeface="Noto Sans SC"/>
                <a:sym typeface="Noto Sans SC"/>
              </a:rPr>
              <a:t>ACKNOWLEDGEMENTS</a:t>
            </a:r>
            <a:endParaRPr lang="en-US" sz="1100"/>
          </a:p>
        </p:txBody>
      </p:sp>
      <p:sp>
        <p:nvSpPr>
          <p:cNvPr id="5" name="AutoShape 5"/>
          <p:cNvSpPr/>
          <p:nvPr/>
        </p:nvSpPr>
        <p:spPr>
          <a:xfrm>
            <a:off x="825500" y="2794000"/>
            <a:ext cx="3302000" cy="2413000"/>
          </a:xfrm>
          <a:prstGeom prst="roundRect">
            <a:avLst>
              <a:gd name="adj" fmla="val 6315"/>
            </a:avLst>
          </a:prstGeom>
          <a:solidFill>
            <a:srgbClr val="FFFFFF">
              <a:alpha val="9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00" y="3048000"/>
            <a:ext cx="762000" cy="762000"/>
          </a:xfrm>
          <a:prstGeom prst="rect">
            <a:avLst/>
          </a:prstGeom>
        </p:spPr>
      </p:pic>
      <p:sp>
        <p:nvSpPr>
          <p:cNvPr id="7" name="AutoShape 7"/>
          <p:cNvSpPr/>
          <p:nvPr/>
        </p:nvSpPr>
        <p:spPr>
          <a:xfrm>
            <a:off x="1079500" y="3937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Noto Sans SC"/>
                <a:ea typeface="Noto Sans SC"/>
                <a:cs typeface="Noto Sans SC"/>
                <a:sym typeface="Noto Sans SC"/>
              </a:rPr>
              <a:t>恩师指导</a:t>
            </a:r>
            <a:endParaRPr lang="en-US" sz="1100"/>
          </a:p>
        </p:txBody>
      </p:sp>
      <p:sp>
        <p:nvSpPr>
          <p:cNvPr id="8" name="AutoShape 8"/>
          <p:cNvSpPr/>
          <p:nvPr/>
        </p:nvSpPr>
        <p:spPr>
          <a:xfrm>
            <a:off x="1079500" y="44450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B7280"/>
                </a:solidFill>
                <a:latin typeface="Noto Sans SC"/>
                <a:ea typeface="Noto Sans SC"/>
                <a:cs typeface="Noto Sans SC"/>
                <a:sym typeface="Noto Sans SC"/>
              </a:rPr>
              <a:t>感谢刘春平教授在课题研究和论文撰写过程中的悉心指导与无私帮助。</a:t>
            </a:r>
            <a:endParaRPr lang="en-US" sz="1100"/>
          </a:p>
        </p:txBody>
      </p:sp>
      <p:sp>
        <p:nvSpPr>
          <p:cNvPr id="9" name="AutoShape 9"/>
          <p:cNvSpPr/>
          <p:nvPr/>
        </p:nvSpPr>
        <p:spPr>
          <a:xfrm>
            <a:off x="4445000" y="2794000"/>
            <a:ext cx="3302000" cy="2413000"/>
          </a:xfrm>
          <a:prstGeom prst="roundRect">
            <a:avLst>
              <a:gd name="adj" fmla="val 6315"/>
            </a:avLst>
          </a:prstGeom>
          <a:solidFill>
            <a:srgbClr val="FFFFFF">
              <a:alpha val="9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5000" y="3048000"/>
            <a:ext cx="762000" cy="762000"/>
          </a:xfrm>
          <a:prstGeom prst="rect">
            <a:avLst/>
          </a:prstGeom>
        </p:spPr>
      </p:pic>
      <p:sp>
        <p:nvSpPr>
          <p:cNvPr id="11" name="AutoShape 11"/>
          <p:cNvSpPr/>
          <p:nvPr/>
        </p:nvSpPr>
        <p:spPr>
          <a:xfrm>
            <a:off x="4699000" y="3937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Noto Sans SC"/>
                <a:ea typeface="Noto Sans SC"/>
                <a:cs typeface="Noto Sans SC"/>
                <a:sym typeface="Noto Sans SC"/>
              </a:rPr>
              <a:t>同窗协作</a:t>
            </a:r>
            <a:endParaRPr lang="en-US" sz="1100"/>
          </a:p>
        </p:txBody>
      </p:sp>
      <p:sp>
        <p:nvSpPr>
          <p:cNvPr id="12" name="AutoShape 12"/>
          <p:cNvSpPr/>
          <p:nvPr/>
        </p:nvSpPr>
        <p:spPr>
          <a:xfrm>
            <a:off x="4699000" y="44450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B7280"/>
                </a:solidFill>
                <a:latin typeface="Noto Sans SC"/>
                <a:ea typeface="Noto Sans SC"/>
                <a:cs typeface="Noto Sans SC"/>
                <a:sym typeface="Noto Sans SC"/>
              </a:rPr>
              <a:t>感谢实验室的各位同学在项目开发与测试中给予的大力支持与默契协作。</a:t>
            </a:r>
            <a:endParaRPr lang="en-US" sz="1100"/>
          </a:p>
        </p:txBody>
      </p:sp>
      <p:sp>
        <p:nvSpPr>
          <p:cNvPr id="13" name="AutoShape 13"/>
          <p:cNvSpPr/>
          <p:nvPr/>
        </p:nvSpPr>
        <p:spPr>
          <a:xfrm>
            <a:off x="8064500" y="2794000"/>
            <a:ext cx="3302000" cy="2413000"/>
          </a:xfrm>
          <a:prstGeom prst="roundRect">
            <a:avLst>
              <a:gd name="adj" fmla="val 6315"/>
            </a:avLst>
          </a:prstGeom>
          <a:solidFill>
            <a:srgbClr val="FFFFFF">
              <a:alpha val="9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3048000"/>
            <a:ext cx="762000" cy="762000"/>
          </a:xfrm>
          <a:prstGeom prst="rect">
            <a:avLst/>
          </a:prstGeom>
        </p:spPr>
      </p:pic>
      <p:sp>
        <p:nvSpPr>
          <p:cNvPr id="15" name="AutoShape 15"/>
          <p:cNvSpPr/>
          <p:nvPr/>
        </p:nvSpPr>
        <p:spPr>
          <a:xfrm>
            <a:off x="8318500" y="3937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Noto Sans SC"/>
                <a:ea typeface="Noto Sans SC"/>
                <a:cs typeface="Noto Sans SC"/>
                <a:sym typeface="Noto Sans SC"/>
              </a:rPr>
              <a:t>母校栽培</a:t>
            </a:r>
            <a:endParaRPr lang="en-US" sz="1100"/>
          </a:p>
        </p:txBody>
      </p:sp>
      <p:sp>
        <p:nvSpPr>
          <p:cNvPr id="16" name="AutoShape 16"/>
          <p:cNvSpPr/>
          <p:nvPr/>
        </p:nvSpPr>
        <p:spPr>
          <a:xfrm>
            <a:off x="8318500" y="44450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B7280"/>
                </a:solidFill>
                <a:latin typeface="Noto Sans SC"/>
                <a:ea typeface="Noto Sans SC"/>
                <a:cs typeface="Noto Sans SC"/>
                <a:sym typeface="Noto Sans SC"/>
              </a:rPr>
              <a:t>感谢深圳大学提供的优越科研环境与丰富学术资源，让我得以顺利完成学业。</a:t>
            </a:r>
            <a:endParaRPr lang="en-US" sz="1100"/>
          </a:p>
        </p:txBody>
      </p:sp>
      <p:sp>
        <p:nvSpPr>
          <p:cNvPr id="17" name="AutoShape 17"/>
          <p:cNvSpPr/>
          <p:nvPr/>
        </p:nvSpPr>
        <p:spPr>
          <a:xfrm>
            <a:off x="0" y="5715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0B981"/>
                </a:solidFill>
                <a:latin typeface="Noto Sans SC"/>
                <a:ea typeface="Noto Sans SC"/>
                <a:cs typeface="Noto Sans SC"/>
                <a:sym typeface="Noto Sans SC"/>
              </a:rPr>
              <a:t>再次感谢各位专家评委的聆听与指导！</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1315</Words>
  <Application>Microsoft Office PowerPoint</Application>
  <PresentationFormat>宽屏</PresentationFormat>
  <Paragraphs>248</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YRB Pro</cp:lastModifiedBy>
  <cp:revision>51</cp:revision>
  <dcterms:modified xsi:type="dcterms:W3CDTF">2026-04-20T06:35:30Z</dcterms:modified>
</cp:coreProperties>
</file>